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PawPatrol: a community rescue network for stray animals. One-line pitch: see a stray in trouble, report in 30 seconds, nearest rescuer gets notified.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India has roughly 62 million stray dogs. Bystanders who spot an injured or sick animal have no fast way to alert someone who can actually help, and rescuers have no visibility into where help is needed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loop: report a case with a photo and location, the nearest volunteers and shelters are notified instantly, and they respond and resolve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short mission-driven intro, then the user picks a role: reporter, volunteer or rescuer, or NGO / shelter, which shapes what they see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Onboarding routes each user into a role-specific experience: reporters get the map and report flow, volunteers get a queue of nearby unclaimed cases with a claim-nearest action, and NGOs get a dashboard plus a case queue for assigning and verifying.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home screen is a live map of every open case near the user, color-coded by urgency, with filters and an instant preview when a pin is tapped.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Reporting a case takes under 30 seconds: snap a photo, let AI suggest species and condition tags, confirm the location pin, pick an urgency level, and submit.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case detail screen, a rescuer taps I'll help to claim it, then moves it through a status timeline while chatting directly with the reporter.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Beyond one case, the app tracks a user's full activity history, and connects them to a directory of verified nearby shelters and vets with live hours and 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Rehabilitated animals are browsable for adoption, and the profile screen turns rescue into a habit with impact stats and badges, in the user's chosen language.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Roadmap for phase two: sterilization and vaccination drive scheduling, donation integration for NGOs, proximity push notifications, and AI-driven severity scoring to help triage.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mission and the one-line pitch.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image" Target="../media/image-3-3.png"/><Relationship Id="rId4" Type="http://schemas.openxmlformats.org/officeDocument/2006/relationships/image" Target="../media/image-3-4.svg"/><Relationship Id="rId5" Type="http://schemas.openxmlformats.org/officeDocument/2006/relationships/image" Target="../media/image-3-5.png"/><Relationship Id="rId6" Type="http://schemas.openxmlformats.org/officeDocument/2006/relationships/image" Target="../media/image-3-6.svg"/><Relationship Id="rId7" Type="http://schemas.openxmlformats.org/officeDocument/2006/relationships/image" Target="../media/image-3-7.png"/><Relationship Id="rId8" Type="http://schemas.openxmlformats.org/officeDocument/2006/relationships/image" Target="../media/image-3-8.svg"/><Relationship Id="rId9" Type="http://schemas.openxmlformats.org/officeDocument/2006/relationships/image" Target="../media/image-3-9.png"/><Relationship Id="rId10" Type="http://schemas.openxmlformats.org/officeDocument/2006/relationships/image" Target="../media/image-3-10.svg"/><Relationship Id="rId11" Type="http://schemas.openxmlformats.org/officeDocument/2006/relationships/slideLayout" Target="../slideLayouts/slideLayout1.xml"/><Relationship Id="rId1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3832"/>
        </a:solidFill>
      </p:bgPr>
    </p:bg>
    <p:spTree>
      <p:nvGrpSpPr>
        <p:cNvPr id="1" name=""/>
        <p:cNvGrpSpPr/>
        <p:nvPr/>
      </p:nvGrpSpPr>
      <p:grpSpPr>
        <a:xfrm>
          <a:off x="0" y="0"/>
          <a:ext cx="0" cy="0"/>
          <a:chOff x="0" y="0"/>
          <a:chExt cx="0" cy="0"/>
        </a:xfrm>
      </p:grpSpPr>
      <p:sp>
        <p:nvSpPr>
          <p:cNvPr id="2" name="Shape 0"/>
          <p:cNvSpPr/>
          <p:nvPr/>
        </p:nvSpPr>
        <p:spPr>
          <a:xfrm>
            <a:off x="13126235" y="-1331061"/>
            <a:ext cx="4178638" cy="4178638"/>
          </a:xfrm>
          <a:prstGeom prst="ellipse">
            <a:avLst/>
          </a:prstGeom>
          <a:gradFill rotWithShape="1">
            <a:gsLst>
              <a:gs pos="0">
                <a:srgbClr val="FBF6EA">
                  <a:alpha val="16000"/>
                </a:srgbClr>
              </a:gs>
              <a:gs pos="70000">
                <a:srgbClr val="FBF6EA">
                  <a:alpha val="0"/>
                </a:srgbClr>
              </a:gs>
            </a:gsLst>
            <a:path path="circle">
              <a:fillToRect l="50000" t="50000" r="50000" b="50000"/>
            </a:path>
          </a:gradFill>
          <a:ln/>
        </p:spPr>
      </p:sp>
      <p:sp>
        <p:nvSpPr>
          <p:cNvPr id="3" name="Shape 1"/>
          <p:cNvSpPr/>
          <p:nvPr/>
        </p:nvSpPr>
        <p:spPr>
          <a:xfrm>
            <a:off x="11242924" y="7613073"/>
            <a:ext cx="3208541" cy="3208541"/>
          </a:xfrm>
          <a:prstGeom prst="ellipse">
            <a:avLst/>
          </a:prstGeom>
          <a:gradFill rotWithShape="1">
            <a:gsLst>
              <a:gs pos="0">
                <a:srgbClr val="E8A23A">
                  <a:alpha val="28000"/>
                </a:srgbClr>
              </a:gs>
              <a:gs pos="70000">
                <a:srgbClr val="E8A23A">
                  <a:alpha val="0"/>
                </a:srgbClr>
              </a:gs>
            </a:gsLst>
            <a:path path="circle">
              <a:fillToRect l="50000" t="50000" r="50000" b="50000"/>
            </a:path>
          </a:gradFill>
          <a:ln/>
        </p:spPr>
      </p:sp>
      <p:sp>
        <p:nvSpPr>
          <p:cNvPr id="4" name="Text 2"/>
          <p:cNvSpPr/>
          <p:nvPr/>
        </p:nvSpPr>
        <p:spPr>
          <a:xfrm>
            <a:off x="1047732" y="3500890"/>
            <a:ext cx="17811777" cy="325038"/>
          </a:xfrm>
          <a:prstGeom prst="rect">
            <a:avLst/>
          </a:prstGeom>
          <a:noFill/>
          <a:ln/>
        </p:spPr>
        <p:txBody>
          <a:bodyPr wrap="square" lIns="25400" tIns="25400" rIns="25400" bIns="25400" rtlCol="0" anchor="t">
            <a:normAutofit/>
          </a:bodyPr>
          <a:lstStyle/>
          <a:p>
            <a:pPr algn="l" indent="0" marL="0">
              <a:buNone/>
            </a:pPr>
            <a:r>
              <a:rPr lang="en-US" sz="1950" b="1" spc="300" kern="0" dirty="0">
                <a:solidFill>
                  <a:srgbClr val="FBF6EA">
                    <a:alpha val="60000"/>
                  </a:srgbClr>
                </a:solidFill>
                <a:latin typeface="Arial" pitchFamily="34" charset="0"/>
                <a:ea typeface="Arial" pitchFamily="34" charset="-122"/>
                <a:cs typeface="Arial" pitchFamily="34" charset="-120"/>
              </a:rPr>
              <a:t>STRAY ANIMAL RESCUE &amp; WELFARE</a:t>
            </a:r>
            <a:endParaRPr lang="en-US" sz="1950" dirty="0"/>
          </a:p>
        </p:txBody>
      </p:sp>
      <p:sp>
        <p:nvSpPr>
          <p:cNvPr id="5" name="Text 3"/>
          <p:cNvSpPr/>
          <p:nvPr/>
        </p:nvSpPr>
        <p:spPr>
          <a:xfrm>
            <a:off x="1047732" y="4054469"/>
            <a:ext cx="17811777" cy="1295411"/>
          </a:xfrm>
          <a:prstGeom prst="rect">
            <a:avLst/>
          </a:prstGeom>
          <a:noFill/>
          <a:ln/>
        </p:spPr>
        <p:txBody>
          <a:bodyPr wrap="square" lIns="25400" tIns="25400" rIns="25400" bIns="25400" rtlCol="0" anchor="t">
            <a:normAutofit/>
          </a:bodyPr>
          <a:lstStyle/>
          <a:p>
            <a:pPr algn="l" indent="0" marL="0">
              <a:lnSpc>
                <a:spcPct val="87003"/>
              </a:lnSpc>
              <a:buNone/>
            </a:pPr>
            <a:r>
              <a:rPr lang="en-US" sz="9900" b="1" dirty="0">
                <a:solidFill>
                  <a:srgbClr val="FBF6EA"/>
                </a:solidFill>
                <a:latin typeface="Arial" pitchFamily="34" charset="0"/>
                <a:ea typeface="Arial" pitchFamily="34" charset="-122"/>
                <a:cs typeface="Arial" pitchFamily="34" charset="-120"/>
              </a:rPr>
              <a:t>PawPatrol</a:t>
            </a:r>
            <a:endParaRPr lang="en-US" sz="9900" dirty="0"/>
          </a:p>
        </p:txBody>
      </p:sp>
      <p:sp>
        <p:nvSpPr>
          <p:cNvPr id="6" name="Text 4"/>
          <p:cNvSpPr/>
          <p:nvPr/>
        </p:nvSpPr>
        <p:spPr>
          <a:xfrm>
            <a:off x="1047732" y="5654638"/>
            <a:ext cx="11772819" cy="1169549"/>
          </a:xfrm>
          <a:prstGeom prst="rect">
            <a:avLst/>
          </a:prstGeom>
          <a:noFill/>
          <a:ln/>
        </p:spPr>
        <p:txBody>
          <a:bodyPr wrap="square" lIns="25400" tIns="25400" rIns="25400" bIns="25400" rtlCol="0" anchor="t">
            <a:normAutofit/>
          </a:bodyPr>
          <a:lstStyle/>
          <a:p>
            <a:pPr algn="l" indent="0" marL="0">
              <a:lnSpc>
                <a:spcPct val="116612"/>
              </a:lnSpc>
              <a:buNone/>
            </a:pPr>
            <a:r>
              <a:rPr lang="en-US" sz="3300" dirty="0">
                <a:solidFill>
                  <a:srgbClr val="FBF6EA">
                    <a:alpha val="82000"/>
                  </a:srgbClr>
                </a:solidFill>
                <a:latin typeface="Arial" pitchFamily="34" charset="0"/>
                <a:ea typeface="Arial" pitchFamily="34" charset="-122"/>
                <a:cs typeface="Arial" pitchFamily="34" charset="-120"/>
              </a:rPr>
              <a:t>See a stray in trouble → report in 30 seconds → nearest rescuer gets notified.</a:t>
            </a:r>
            <a:endParaRPr lang="en-US" sz="3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6EA"/>
        </a:solidFill>
      </p:bgPr>
    </p:bg>
    <p:spTree>
      <p:nvGrpSpPr>
        <p:cNvPr id="1" name=""/>
        <p:cNvGrpSpPr/>
        <p:nvPr/>
      </p:nvGrpSpPr>
      <p:grpSpPr>
        <a:xfrm>
          <a:off x="0" y="0"/>
          <a:ext cx="0" cy="0"/>
          <a:chOff x="0" y="0"/>
          <a:chExt cx="0" cy="0"/>
        </a:xfrm>
      </p:grpSpPr>
      <p:sp>
        <p:nvSpPr>
          <p:cNvPr id="2" name="Text 0"/>
          <p:cNvSpPr/>
          <p:nvPr/>
        </p:nvSpPr>
        <p:spPr>
          <a:xfrm>
            <a:off x="1047732" y="3837961"/>
            <a:ext cx="5706931" cy="2438354"/>
          </a:xfrm>
          <a:prstGeom prst="rect">
            <a:avLst/>
          </a:prstGeom>
          <a:noFill/>
          <a:ln/>
        </p:spPr>
        <p:txBody>
          <a:bodyPr wrap="square" lIns="25400" tIns="25400" rIns="25400" bIns="25400" rtlCol="0" anchor="t">
            <a:normAutofit/>
          </a:bodyPr>
          <a:lstStyle/>
          <a:p>
            <a:pPr algn="l" indent="0" marL="0">
              <a:lnSpc>
                <a:spcPct val="78246"/>
              </a:lnSpc>
              <a:buNone/>
            </a:pPr>
            <a:r>
              <a:rPr lang="en-US" sz="21000" b="1" dirty="0">
                <a:solidFill>
                  <a:srgbClr val="1F5D50"/>
                </a:solidFill>
                <a:latin typeface="Arial" pitchFamily="34" charset="0"/>
                <a:ea typeface="Arial" pitchFamily="34" charset="-122"/>
                <a:cs typeface="Arial" pitchFamily="34" charset="-120"/>
              </a:rPr>
              <a:t>62M</a:t>
            </a:r>
            <a:endParaRPr lang="en-US" sz="21000" dirty="0"/>
          </a:p>
        </p:txBody>
      </p:sp>
      <p:sp>
        <p:nvSpPr>
          <p:cNvPr id="3" name="Text 1"/>
          <p:cNvSpPr/>
          <p:nvPr/>
        </p:nvSpPr>
        <p:spPr>
          <a:xfrm>
            <a:off x="1047732" y="6352501"/>
            <a:ext cx="5706931" cy="325038"/>
          </a:xfrm>
          <a:prstGeom prst="rect">
            <a:avLst/>
          </a:prstGeom>
          <a:noFill/>
          <a:ln/>
        </p:spPr>
        <p:txBody>
          <a:bodyPr wrap="square" lIns="25400" tIns="25400" rIns="25400" bIns="25400" rtlCol="0" anchor="t">
            <a:normAutofit/>
          </a:bodyPr>
          <a:lstStyle/>
          <a:p>
            <a:pPr algn="l" indent="0" marL="0">
              <a:buNone/>
            </a:pPr>
            <a:r>
              <a:rPr lang="en-US" sz="1950" b="1" dirty="0">
                <a:solidFill>
                  <a:srgbClr val="17302B">
                    <a:alpha val="55000"/>
                  </a:srgbClr>
                </a:solidFill>
                <a:latin typeface="Arial" pitchFamily="34" charset="0"/>
                <a:ea typeface="Arial" pitchFamily="34" charset="-122"/>
                <a:cs typeface="Arial" pitchFamily="34" charset="-120"/>
              </a:rPr>
              <a:t>estimated stray dogs across Indian cities</a:t>
            </a:r>
            <a:endParaRPr lang="en-US" sz="1950" dirty="0"/>
          </a:p>
        </p:txBody>
      </p:sp>
      <p:sp>
        <p:nvSpPr>
          <p:cNvPr id="4" name="Shape 2"/>
          <p:cNvSpPr/>
          <p:nvPr/>
        </p:nvSpPr>
        <p:spPr>
          <a:xfrm>
            <a:off x="7188290" y="3238488"/>
            <a:ext cx="18993" cy="4000424"/>
          </a:xfrm>
          <a:prstGeom prst="rect">
            <a:avLst/>
          </a:prstGeom>
          <a:solidFill>
            <a:srgbClr val="17302B">
              <a:alpha val="12000"/>
            </a:srgbClr>
          </a:solidFill>
          <a:ln/>
        </p:spPr>
      </p:sp>
      <p:sp>
        <p:nvSpPr>
          <p:cNvPr id="5" name="Text 3"/>
          <p:cNvSpPr/>
          <p:nvPr/>
        </p:nvSpPr>
        <p:spPr>
          <a:xfrm>
            <a:off x="8159722" y="3686585"/>
            <a:ext cx="9988586" cy="742403"/>
          </a:xfrm>
          <a:prstGeom prst="rect">
            <a:avLst/>
          </a:prstGeom>
          <a:noFill/>
          <a:ln/>
        </p:spPr>
        <p:txBody>
          <a:bodyPr wrap="square" lIns="25400" tIns="25400" rIns="25400" bIns="25400" rtlCol="0" anchor="t">
            <a:normAutofit/>
          </a:bodyPr>
          <a:lstStyle/>
          <a:p>
            <a:pPr algn="l" indent="0" marL="0">
              <a:buNone/>
            </a:pPr>
            <a:r>
              <a:rPr lang="en-US" sz="4800" b="1" dirty="0">
                <a:solidFill>
                  <a:srgbClr val="163832"/>
                </a:solidFill>
                <a:latin typeface="Arial" pitchFamily="34" charset="0"/>
                <a:ea typeface="Arial" pitchFamily="34" charset="-122"/>
                <a:cs typeface="Arial" pitchFamily="34" charset="-120"/>
              </a:rPr>
              <a:t>The Problem</a:t>
            </a:r>
            <a:endParaRPr lang="en-US" sz="4800" dirty="0"/>
          </a:p>
        </p:txBody>
      </p:sp>
      <p:sp>
        <p:nvSpPr>
          <p:cNvPr id="6" name="Text 4"/>
          <p:cNvSpPr/>
          <p:nvPr/>
        </p:nvSpPr>
        <p:spPr>
          <a:xfrm>
            <a:off x="8159722" y="4714671"/>
            <a:ext cx="9352949" cy="952389"/>
          </a:xfrm>
          <a:prstGeom prst="rect">
            <a:avLst/>
          </a:prstGeom>
          <a:noFill/>
          <a:ln/>
        </p:spPr>
        <p:txBody>
          <a:bodyPr wrap="square" lIns="25400" tIns="25400" rIns="25400" bIns="25400" rtlCol="0" anchor="t">
            <a:normAutofit/>
          </a:bodyPr>
          <a:lstStyle/>
          <a:p>
            <a:pPr algn="l" indent="0" marL="0">
              <a:lnSpc>
                <a:spcPct val="130799"/>
              </a:lnSpc>
              <a:buNone/>
            </a:pPr>
            <a:r>
              <a:rPr lang="en-US" sz="2400" dirty="0">
                <a:solidFill>
                  <a:srgbClr val="17302B">
                    <a:alpha val="75000"/>
                  </a:srgbClr>
                </a:solidFill>
                <a:latin typeface="Arial" pitchFamily="34" charset="0"/>
                <a:ea typeface="Arial" pitchFamily="34" charset="-122"/>
                <a:cs typeface="Arial" pitchFamily="34" charset="-120"/>
              </a:rPr>
              <a:t>Injured, sick, or at-risk strays get hurt every day — with no fast way for a bystander to alert someone who can help.</a:t>
            </a:r>
            <a:endParaRPr lang="en-US" sz="2400" dirty="0"/>
          </a:p>
        </p:txBody>
      </p:sp>
      <p:sp>
        <p:nvSpPr>
          <p:cNvPr id="7" name="Text 5"/>
          <p:cNvSpPr/>
          <p:nvPr/>
        </p:nvSpPr>
        <p:spPr>
          <a:xfrm>
            <a:off x="8159722" y="5876608"/>
            <a:ext cx="9352949" cy="952389"/>
          </a:xfrm>
          <a:prstGeom prst="rect">
            <a:avLst/>
          </a:prstGeom>
          <a:noFill/>
          <a:ln/>
        </p:spPr>
        <p:txBody>
          <a:bodyPr wrap="square" lIns="25400" tIns="25400" rIns="25400" bIns="25400" rtlCol="0" anchor="t">
            <a:normAutofit/>
          </a:bodyPr>
          <a:lstStyle/>
          <a:p>
            <a:pPr algn="l" indent="0" marL="0">
              <a:lnSpc>
                <a:spcPct val="130799"/>
              </a:lnSpc>
              <a:buNone/>
            </a:pPr>
            <a:r>
              <a:rPr lang="en-US" sz="2400" dirty="0">
                <a:solidFill>
                  <a:srgbClr val="17302B">
                    <a:alpha val="75000"/>
                  </a:srgbClr>
                </a:solidFill>
                <a:latin typeface="Arial" pitchFamily="34" charset="0"/>
                <a:ea typeface="Arial" pitchFamily="34" charset="-122"/>
                <a:cs typeface="Arial" pitchFamily="34" charset="-120"/>
              </a:rPr>
              <a:t>NGOs and volunteers exist, but have no visibility into where help is needed right now.</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63832"/>
        </a:solidFill>
      </p:bgPr>
    </p:bg>
    <p:spTree>
      <p:nvGrpSpPr>
        <p:cNvPr id="1" name=""/>
        <p:cNvGrpSpPr/>
        <p:nvPr/>
      </p:nvGrpSpPr>
      <p:grpSpPr>
        <a:xfrm>
          <a:off x="0" y="0"/>
          <a:ext cx="0" cy="0"/>
          <a:chOff x="0" y="0"/>
          <a:chExt cx="0" cy="0"/>
        </a:xfrm>
      </p:grpSpPr>
      <p:sp>
        <p:nvSpPr>
          <p:cNvPr id="2" name="Text 0"/>
          <p:cNvSpPr/>
          <p:nvPr/>
        </p:nvSpPr>
        <p:spPr>
          <a:xfrm>
            <a:off x="1047732" y="952439"/>
            <a:ext cx="17811777" cy="742403"/>
          </a:xfrm>
          <a:prstGeom prst="rect">
            <a:avLst/>
          </a:prstGeom>
          <a:noFill/>
          <a:ln/>
        </p:spPr>
        <p:txBody>
          <a:bodyPr wrap="square" lIns="25400" tIns="25400" rIns="25400" bIns="25400" rtlCol="0" anchor="t">
            <a:normAutofit/>
          </a:bodyPr>
          <a:lstStyle/>
          <a:p>
            <a:pPr algn="l" indent="0" marL="0">
              <a:buNone/>
            </a:pPr>
            <a:r>
              <a:rPr lang="en-US" sz="4800" b="1" dirty="0">
                <a:solidFill>
                  <a:srgbClr val="FBF6EA"/>
                </a:solidFill>
                <a:latin typeface="Arial" pitchFamily="34" charset="0"/>
                <a:ea typeface="Arial" pitchFamily="34" charset="-122"/>
                <a:cs typeface="Arial" pitchFamily="34" charset="-120"/>
              </a:rPr>
              <a:t>How It Works</a:t>
            </a:r>
            <a:endParaRPr lang="en-US" sz="4800" dirty="0"/>
          </a:p>
        </p:txBody>
      </p:sp>
      <p:sp>
        <p:nvSpPr>
          <p:cNvPr id="3" name="Shape 1"/>
          <p:cNvSpPr/>
          <p:nvPr/>
        </p:nvSpPr>
        <p:spPr>
          <a:xfrm>
            <a:off x="2819412" y="4409147"/>
            <a:ext cx="1142943" cy="1142943"/>
          </a:xfrm>
          <a:prstGeom prst="ellipse">
            <a:avLst/>
          </a:prstGeom>
          <a:solidFill>
            <a:srgbClr val="FBF6EA">
              <a:alpha val="12000"/>
            </a:srgbClr>
          </a:solidFill>
          <a:ln/>
        </p:spPr>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143196" y="4732931"/>
            <a:ext cx="495294" cy="495294"/>
          </a:xfrm>
          <a:prstGeom prst="rect">
            <a:avLst/>
          </a:prstGeom>
        </p:spPr>
      </p:pic>
      <p:sp>
        <p:nvSpPr>
          <p:cNvPr id="5" name="Text 2"/>
          <p:cNvSpPr/>
          <p:nvPr/>
        </p:nvSpPr>
        <p:spPr>
          <a:xfrm>
            <a:off x="2699049" y="5780663"/>
            <a:ext cx="1383670" cy="523286"/>
          </a:xfrm>
          <a:prstGeom prst="rect">
            <a:avLst/>
          </a:prstGeom>
          <a:noFill/>
          <a:ln/>
        </p:spPr>
        <p:txBody>
          <a:bodyPr wrap="square" lIns="25400" tIns="25400" rIns="25400" bIns="25400" rtlCol="0" anchor="t">
            <a:normAutofit/>
          </a:bodyPr>
          <a:lstStyle/>
          <a:p>
            <a:pPr algn="ctr" indent="0" marL="0">
              <a:buNone/>
            </a:pPr>
            <a:r>
              <a:rPr lang="en-US" sz="3300" b="1" dirty="0">
                <a:solidFill>
                  <a:srgbClr val="FBF6EA"/>
                </a:solidFill>
                <a:latin typeface="Arial" pitchFamily="34" charset="0"/>
                <a:ea typeface="Arial" pitchFamily="34" charset="-122"/>
                <a:cs typeface="Arial" pitchFamily="34" charset="-120"/>
              </a:rPr>
              <a:t>Report</a:t>
            </a:r>
            <a:endParaRPr lang="en-US" sz="3300" dirty="0"/>
          </a:p>
        </p:txBody>
      </p:sp>
      <p:sp>
        <p:nvSpPr>
          <p:cNvPr id="6" name="Text 3"/>
          <p:cNvSpPr/>
          <p:nvPr/>
        </p:nvSpPr>
        <p:spPr>
          <a:xfrm>
            <a:off x="1624952" y="6494422"/>
            <a:ext cx="3531863" cy="1078169"/>
          </a:xfrm>
          <a:prstGeom prst="rect">
            <a:avLst/>
          </a:prstGeom>
          <a:noFill/>
          <a:ln/>
        </p:spPr>
        <p:txBody>
          <a:bodyPr wrap="square" lIns="25400" tIns="25400" rIns="25400" bIns="25400" rtlCol="0" anchor="t">
            <a:normAutofit/>
          </a:bodyPr>
          <a:lstStyle/>
          <a:p>
            <a:pPr algn="ctr" indent="0" marL="0">
              <a:lnSpc>
                <a:spcPct val="120831"/>
              </a:lnSpc>
              <a:buNone/>
            </a:pPr>
            <a:r>
              <a:rPr lang="en-US" sz="1950" dirty="0">
                <a:solidFill>
                  <a:srgbClr val="FBF6EA">
                    <a:alpha val="65000"/>
                  </a:srgbClr>
                </a:solidFill>
                <a:latin typeface="Arial" pitchFamily="34" charset="0"/>
                <a:ea typeface="Arial" pitchFamily="34" charset="-122"/>
                <a:cs typeface="Arial" pitchFamily="34" charset="-120"/>
              </a:rPr>
              <a:t>Photo, AI tags, location &amp; urgency — in under 30 seconds</a:t>
            </a:r>
            <a:endParaRPr lang="en-US" sz="1950" dirty="0"/>
          </a:p>
        </p:txBody>
      </p:sp>
      <p:pic>
        <p:nvPicPr>
          <p:cNvPr id="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924540" y="5857533"/>
            <a:ext cx="685799" cy="228572"/>
          </a:xfrm>
          <a:prstGeom prst="rect">
            <a:avLst/>
          </a:prstGeom>
        </p:spPr>
      </p:pic>
      <p:sp>
        <p:nvSpPr>
          <p:cNvPr id="8" name="Shape 4"/>
          <p:cNvSpPr/>
          <p:nvPr/>
        </p:nvSpPr>
        <p:spPr>
          <a:xfrm>
            <a:off x="8572522" y="4582533"/>
            <a:ext cx="1142943" cy="1142943"/>
          </a:xfrm>
          <a:prstGeom prst="ellipse">
            <a:avLst/>
          </a:prstGeom>
          <a:solidFill>
            <a:srgbClr val="FBF6EA">
              <a:alpha val="12000"/>
            </a:srgbClr>
          </a:solidFill>
          <a:ln/>
        </p:spPr>
      </p:sp>
      <p:pic>
        <p:nvPicPr>
          <p:cNvPr id="9"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896306" y="4906317"/>
            <a:ext cx="495294" cy="495294"/>
          </a:xfrm>
          <a:prstGeom prst="rect">
            <a:avLst/>
          </a:prstGeom>
        </p:spPr>
      </p:pic>
      <p:sp>
        <p:nvSpPr>
          <p:cNvPr id="10" name="Text 5"/>
          <p:cNvSpPr/>
          <p:nvPr/>
        </p:nvSpPr>
        <p:spPr>
          <a:xfrm>
            <a:off x="8570208" y="5954048"/>
            <a:ext cx="1147490" cy="523286"/>
          </a:xfrm>
          <a:prstGeom prst="rect">
            <a:avLst/>
          </a:prstGeom>
          <a:noFill/>
          <a:ln/>
        </p:spPr>
        <p:txBody>
          <a:bodyPr wrap="square" lIns="25400" tIns="25400" rIns="25400" bIns="25400" rtlCol="0" anchor="t">
            <a:normAutofit/>
          </a:bodyPr>
          <a:lstStyle/>
          <a:p>
            <a:pPr algn="ctr" indent="0" marL="0">
              <a:buNone/>
            </a:pPr>
            <a:r>
              <a:rPr lang="en-US" sz="3300" b="1" dirty="0">
                <a:solidFill>
                  <a:srgbClr val="FBF6EA"/>
                </a:solidFill>
                <a:latin typeface="Arial" pitchFamily="34" charset="0"/>
                <a:ea typeface="Arial" pitchFamily="34" charset="-122"/>
                <a:cs typeface="Arial" pitchFamily="34" charset="-120"/>
              </a:rPr>
              <a:t>Notify</a:t>
            </a:r>
            <a:endParaRPr lang="en-US" sz="3300" dirty="0"/>
          </a:p>
        </p:txBody>
      </p:sp>
      <p:sp>
        <p:nvSpPr>
          <p:cNvPr id="11" name="Text 6"/>
          <p:cNvSpPr/>
          <p:nvPr/>
        </p:nvSpPr>
        <p:spPr>
          <a:xfrm>
            <a:off x="7378063" y="6667807"/>
            <a:ext cx="3531863" cy="731480"/>
          </a:xfrm>
          <a:prstGeom prst="rect">
            <a:avLst/>
          </a:prstGeom>
          <a:noFill/>
          <a:ln/>
        </p:spPr>
        <p:txBody>
          <a:bodyPr wrap="square" lIns="25400" tIns="25400" rIns="25400" bIns="25400" rtlCol="0" anchor="t">
            <a:normAutofit/>
          </a:bodyPr>
          <a:lstStyle/>
          <a:p>
            <a:pPr algn="ctr" indent="0" marL="0">
              <a:lnSpc>
                <a:spcPct val="120831"/>
              </a:lnSpc>
              <a:buNone/>
            </a:pPr>
            <a:r>
              <a:rPr lang="en-US" sz="1950" dirty="0">
                <a:solidFill>
                  <a:srgbClr val="FBF6EA">
                    <a:alpha val="65000"/>
                  </a:srgbClr>
                </a:solidFill>
                <a:latin typeface="Arial" pitchFamily="34" charset="0"/>
                <a:ea typeface="Arial" pitchFamily="34" charset="-122"/>
                <a:cs typeface="Arial" pitchFamily="34" charset="-120"/>
              </a:rPr>
              <a:t>Nearby volunteers, NGOs &amp; shelters are alerted instantly</a:t>
            </a:r>
            <a:endParaRPr lang="en-US" sz="1950" dirty="0"/>
          </a:p>
        </p:txBody>
      </p:sp>
      <p:pic>
        <p:nvPicPr>
          <p:cNvPr id="12"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1677650" y="5857533"/>
            <a:ext cx="685799" cy="228572"/>
          </a:xfrm>
          <a:prstGeom prst="rect">
            <a:avLst/>
          </a:prstGeom>
        </p:spPr>
      </p:pic>
      <p:sp>
        <p:nvSpPr>
          <p:cNvPr id="13" name="Shape 7"/>
          <p:cNvSpPr/>
          <p:nvPr/>
        </p:nvSpPr>
        <p:spPr>
          <a:xfrm>
            <a:off x="14325551" y="4582533"/>
            <a:ext cx="1142943" cy="1142943"/>
          </a:xfrm>
          <a:prstGeom prst="ellipse">
            <a:avLst/>
          </a:prstGeom>
          <a:solidFill>
            <a:srgbClr val="FBF6EA">
              <a:alpha val="12000"/>
            </a:srgbClr>
          </a:solidFill>
          <a:ln/>
        </p:spPr>
      </p:sp>
      <p:pic>
        <p:nvPicPr>
          <p:cNvPr id="14"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4649335" y="4906317"/>
            <a:ext cx="495294" cy="495294"/>
          </a:xfrm>
          <a:prstGeom prst="rect">
            <a:avLst/>
          </a:prstGeom>
        </p:spPr>
      </p:pic>
      <p:sp>
        <p:nvSpPr>
          <p:cNvPr id="15" name="Text 8"/>
          <p:cNvSpPr/>
          <p:nvPr/>
        </p:nvSpPr>
        <p:spPr>
          <a:xfrm>
            <a:off x="14115516" y="5954048"/>
            <a:ext cx="1563096" cy="523286"/>
          </a:xfrm>
          <a:prstGeom prst="rect">
            <a:avLst/>
          </a:prstGeom>
          <a:noFill/>
          <a:ln/>
        </p:spPr>
        <p:txBody>
          <a:bodyPr wrap="square" lIns="25400" tIns="25400" rIns="25400" bIns="25400" rtlCol="0" anchor="t">
            <a:normAutofit/>
          </a:bodyPr>
          <a:lstStyle/>
          <a:p>
            <a:pPr algn="ctr" indent="0" marL="0">
              <a:buNone/>
            </a:pPr>
            <a:r>
              <a:rPr lang="en-US" sz="3300" b="1" dirty="0">
                <a:solidFill>
                  <a:srgbClr val="FBF6EA"/>
                </a:solidFill>
                <a:latin typeface="Arial" pitchFamily="34" charset="0"/>
                <a:ea typeface="Arial" pitchFamily="34" charset="-122"/>
                <a:cs typeface="Arial" pitchFamily="34" charset="-120"/>
              </a:rPr>
              <a:t>Rescue</a:t>
            </a:r>
            <a:endParaRPr lang="en-US" sz="3300" dirty="0"/>
          </a:p>
        </p:txBody>
      </p:sp>
      <p:sp>
        <p:nvSpPr>
          <p:cNvPr id="16" name="Text 9"/>
          <p:cNvSpPr/>
          <p:nvPr/>
        </p:nvSpPr>
        <p:spPr>
          <a:xfrm>
            <a:off x="13131092" y="6667807"/>
            <a:ext cx="3531863" cy="731480"/>
          </a:xfrm>
          <a:prstGeom prst="rect">
            <a:avLst/>
          </a:prstGeom>
          <a:noFill/>
          <a:ln/>
        </p:spPr>
        <p:txBody>
          <a:bodyPr wrap="square" lIns="25400" tIns="25400" rIns="25400" bIns="25400" rtlCol="0" anchor="t">
            <a:normAutofit/>
          </a:bodyPr>
          <a:lstStyle/>
          <a:p>
            <a:pPr algn="ctr" indent="0" marL="0">
              <a:lnSpc>
                <a:spcPct val="120831"/>
              </a:lnSpc>
              <a:buNone/>
            </a:pPr>
            <a:r>
              <a:rPr lang="en-US" sz="1950" dirty="0">
                <a:solidFill>
                  <a:srgbClr val="FBF6EA">
                    <a:alpha val="65000"/>
                  </a:srgbClr>
                </a:solidFill>
                <a:latin typeface="Arial" pitchFamily="34" charset="0"/>
                <a:ea typeface="Arial" pitchFamily="34" charset="-122"/>
                <a:cs typeface="Arial" pitchFamily="34" charset="-120"/>
              </a:rPr>
              <a:t>A rescuer claims the case and tracks it through to resolved</a:t>
            </a:r>
            <a:endParaRPr lang="en-US" sz="1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6EA"/>
        </a:solidFill>
      </p:bgPr>
    </p:bg>
    <p:spTree>
      <p:nvGrpSpPr>
        <p:cNvPr id="1" name=""/>
        <p:cNvGrpSpPr/>
        <p:nvPr/>
      </p:nvGrpSpPr>
      <p:grpSpPr>
        <a:xfrm>
          <a:off x="0" y="0"/>
          <a:ext cx="0" cy="0"/>
          <a:chOff x="0" y="0"/>
          <a:chExt cx="0" cy="0"/>
        </a:xfrm>
      </p:grpSpPr>
      <p:sp>
        <p:nvSpPr>
          <p:cNvPr id="2" name="Text 0"/>
          <p:cNvSpPr/>
          <p:nvPr/>
        </p:nvSpPr>
        <p:spPr>
          <a:xfrm>
            <a:off x="1047732" y="3244439"/>
            <a:ext cx="8320468" cy="1379047"/>
          </a:xfrm>
          <a:prstGeom prst="rect">
            <a:avLst/>
          </a:prstGeom>
          <a:noFill/>
          <a:ln/>
        </p:spPr>
        <p:txBody>
          <a:bodyPr wrap="square" lIns="25400" tIns="25400" rIns="25400" bIns="25400" rtlCol="0" anchor="t">
            <a:normAutofit/>
          </a:bodyPr>
          <a:lstStyle/>
          <a:p>
            <a:pPr algn="l" indent="0" marL="0">
              <a:lnSpc>
                <a:spcPct val="95209"/>
              </a:lnSpc>
              <a:buNone/>
            </a:pPr>
            <a:r>
              <a:rPr lang="en-US" sz="4800" b="1" dirty="0">
                <a:solidFill>
                  <a:srgbClr val="163832"/>
                </a:solidFill>
                <a:latin typeface="Arial" pitchFamily="34" charset="0"/>
                <a:ea typeface="Arial" pitchFamily="34" charset="-122"/>
                <a:cs typeface="Arial" pitchFamily="34" charset="-120"/>
              </a:rPr>
              <a:t>Onboarding &amp; Choose Your Role</a:t>
            </a:r>
            <a:endParaRPr lang="en-US" sz="4800" dirty="0"/>
          </a:p>
        </p:txBody>
      </p:sp>
      <p:sp>
        <p:nvSpPr>
          <p:cNvPr id="3" name="Text 1"/>
          <p:cNvSpPr/>
          <p:nvPr/>
        </p:nvSpPr>
        <p:spPr>
          <a:xfrm>
            <a:off x="1047732" y="4909170"/>
            <a:ext cx="8885937" cy="495245"/>
          </a:xfrm>
          <a:prstGeom prst="rect">
            <a:avLst/>
          </a:prstGeom>
          <a:noFill/>
          <a:ln/>
        </p:spPr>
        <p:txBody>
          <a:bodyPr wrap="square" lIns="25400" tIns="25400" rIns="25400" bIns="25400" rtlCol="0" anchor="t">
            <a:normAutofit/>
          </a:bodyPr>
          <a:lstStyle/>
          <a:p>
            <a:pPr algn="l" indent="0" marL="0">
              <a:lnSpc>
                <a:spcPct val="130799"/>
              </a:lnSpc>
              <a:buNone/>
            </a:pPr>
            <a:r>
              <a:rPr lang="en-US" sz="2400" dirty="0">
                <a:solidFill>
                  <a:srgbClr val="17302B">
                    <a:alpha val="75000"/>
                  </a:srgbClr>
                </a:solidFill>
                <a:latin typeface="Arial" pitchFamily="34" charset="0"/>
                <a:ea typeface="Arial" pitchFamily="34" charset="-122"/>
                <a:cs typeface="Arial" pitchFamily="34" charset="-120"/>
              </a:rPr>
              <a:t>Three quick slides frame the mission.</a:t>
            </a:r>
            <a:endParaRPr lang="en-US" sz="2400" dirty="0"/>
          </a:p>
        </p:txBody>
      </p:sp>
      <p:sp>
        <p:nvSpPr>
          <p:cNvPr id="4" name="Text 2"/>
          <p:cNvSpPr/>
          <p:nvPr/>
        </p:nvSpPr>
        <p:spPr>
          <a:xfrm>
            <a:off x="1047732" y="5613961"/>
            <a:ext cx="8320468" cy="952389"/>
          </a:xfrm>
          <a:prstGeom prst="rect">
            <a:avLst/>
          </a:prstGeom>
          <a:noFill/>
          <a:ln/>
        </p:spPr>
        <p:txBody>
          <a:bodyPr wrap="square" lIns="25400" tIns="25400" rIns="25400" bIns="25400" rtlCol="0" anchor="t">
            <a:normAutofit/>
          </a:bodyPr>
          <a:lstStyle/>
          <a:p>
            <a:pPr algn="l" indent="0" marL="0">
              <a:lnSpc>
                <a:spcPct val="130799"/>
              </a:lnSpc>
              <a:buNone/>
            </a:pPr>
            <a:r>
              <a:rPr lang="en-US" sz="2400" dirty="0">
                <a:solidFill>
                  <a:srgbClr val="17302B">
                    <a:alpha val="75000"/>
                  </a:srgbClr>
                </a:solidFill>
                <a:latin typeface="Arial" pitchFamily="34" charset="0"/>
                <a:ea typeface="Arial" pitchFamily="34" charset="-122"/>
                <a:cs typeface="Arial" pitchFamily="34" charset="-120"/>
              </a:rPr>
              <a:t>Reporter, Volunteer, or NGO/Shelter — one flow, three roles.</a:t>
            </a:r>
            <a:endParaRPr lang="en-US" sz="2400" dirty="0"/>
          </a:p>
        </p:txBody>
      </p:sp>
      <p:sp>
        <p:nvSpPr>
          <p:cNvPr id="5" name="Text 3"/>
          <p:cNvSpPr/>
          <p:nvPr/>
        </p:nvSpPr>
        <p:spPr>
          <a:xfrm>
            <a:off x="1047732" y="6775898"/>
            <a:ext cx="8885937" cy="495245"/>
          </a:xfrm>
          <a:prstGeom prst="rect">
            <a:avLst/>
          </a:prstGeom>
          <a:noFill/>
          <a:ln/>
        </p:spPr>
        <p:txBody>
          <a:bodyPr wrap="square" lIns="25400" tIns="25400" rIns="25400" bIns="25400" rtlCol="0" anchor="t">
            <a:normAutofit/>
          </a:bodyPr>
          <a:lstStyle/>
          <a:p>
            <a:pPr algn="l" indent="0" marL="0">
              <a:lnSpc>
                <a:spcPct val="130799"/>
              </a:lnSpc>
              <a:buNone/>
            </a:pPr>
            <a:r>
              <a:rPr lang="en-US" sz="2400" dirty="0">
                <a:solidFill>
                  <a:srgbClr val="17302B">
                    <a:alpha val="75000"/>
                  </a:srgbClr>
                </a:solidFill>
                <a:latin typeface="Arial" pitchFamily="34" charset="0"/>
                <a:ea typeface="Arial" pitchFamily="34" charset="-122"/>
                <a:cs typeface="Arial" pitchFamily="34" charset="-120"/>
              </a:rPr>
              <a:t>The pick personalizes what the person sees next.</a:t>
            </a:r>
            <a:endParaRPr lang="en-US" sz="2400" dirty="0"/>
          </a:p>
        </p:txBody>
      </p:sp>
      <p:pic>
        <p:nvPicPr>
          <p:cNvPr id="6" name="Image 0" descr="preencoded.png">    </p:cNvPr>
          <p:cNvPicPr>
            <a:picLocks noChangeAspect="1"/>
          </p:cNvPicPr>
          <p:nvPr/>
        </p:nvPicPr>
        <p:blipFill>
          <a:blip r:embed="rId1"/>
          <a:srcRect l="0" r="0" t="0" b="0"/>
          <a:stretch/>
        </p:blipFill>
        <p:spPr>
          <a:xfrm>
            <a:off x="9887792" y="1428740"/>
            <a:ext cx="3504803" cy="7619920"/>
          </a:xfrm>
          <a:prstGeom prst="rect">
            <a:avLst/>
          </a:prstGeom>
        </p:spPr>
      </p:pic>
      <p:pic>
        <p:nvPicPr>
          <p:cNvPr id="7" name="Image 1" descr="preencoded.png">    </p:cNvPr>
          <p:cNvPicPr>
            <a:picLocks noChangeAspect="1"/>
          </p:cNvPicPr>
          <p:nvPr/>
        </p:nvPicPr>
        <p:blipFill>
          <a:blip r:embed="rId2"/>
          <a:srcRect l="0" r="0" t="0" b="0"/>
          <a:stretch/>
        </p:blipFill>
        <p:spPr>
          <a:xfrm>
            <a:off x="13735452" y="1428740"/>
            <a:ext cx="3504803" cy="761992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63832"/>
        </a:solidFill>
      </p:bgPr>
    </p:bg>
    <p:spTree>
      <p:nvGrpSpPr>
        <p:cNvPr id="1" name=""/>
        <p:cNvGrpSpPr/>
        <p:nvPr/>
      </p:nvGrpSpPr>
      <p:grpSpPr>
        <a:xfrm>
          <a:off x="0" y="0"/>
          <a:ext cx="0" cy="0"/>
          <a:chOff x="0" y="0"/>
          <a:chExt cx="0" cy="0"/>
        </a:xfrm>
      </p:grpSpPr>
      <p:sp>
        <p:nvSpPr>
          <p:cNvPr id="2" name="Text 0"/>
          <p:cNvSpPr/>
          <p:nvPr/>
        </p:nvSpPr>
        <p:spPr>
          <a:xfrm>
            <a:off x="1047732" y="952439"/>
            <a:ext cx="17811777" cy="742403"/>
          </a:xfrm>
          <a:prstGeom prst="rect">
            <a:avLst/>
          </a:prstGeom>
          <a:noFill/>
          <a:ln/>
        </p:spPr>
        <p:txBody>
          <a:bodyPr wrap="square" lIns="25400" tIns="25400" rIns="25400" bIns="25400" rtlCol="0" anchor="t">
            <a:normAutofit/>
          </a:bodyPr>
          <a:lstStyle/>
          <a:p>
            <a:pPr algn="l" indent="0" marL="0">
              <a:buNone/>
            </a:pPr>
            <a:r>
              <a:rPr lang="en-US" sz="4800" b="1" dirty="0">
                <a:solidFill>
                  <a:srgbClr val="FBF6EA"/>
                </a:solidFill>
                <a:latin typeface="Arial" pitchFamily="34" charset="0"/>
                <a:ea typeface="Arial" pitchFamily="34" charset="-122"/>
                <a:cs typeface="Arial" pitchFamily="34" charset="-120"/>
              </a:rPr>
              <a:t>Three Roles, One App</a:t>
            </a:r>
            <a:endParaRPr lang="en-US" sz="4800" dirty="0"/>
          </a:p>
        </p:txBody>
      </p:sp>
      <p:sp>
        <p:nvSpPr>
          <p:cNvPr id="3" name="Text 1"/>
          <p:cNvSpPr/>
          <p:nvPr/>
        </p:nvSpPr>
        <p:spPr>
          <a:xfrm>
            <a:off x="1047732" y="1771028"/>
            <a:ext cx="11772819" cy="810225"/>
          </a:xfrm>
          <a:prstGeom prst="rect">
            <a:avLst/>
          </a:prstGeom>
          <a:noFill/>
          <a:ln/>
        </p:spPr>
        <p:txBody>
          <a:bodyPr wrap="square" lIns="25400" tIns="25400" rIns="25400" bIns="25400" rtlCol="0" anchor="t">
            <a:normAutofit/>
          </a:bodyPr>
          <a:lstStyle/>
          <a:p>
            <a:pPr algn="l" indent="0" marL="0">
              <a:buNone/>
            </a:pPr>
            <a:r>
              <a:rPr lang="en-US" sz="2400" dirty="0">
                <a:solidFill>
                  <a:srgbClr val="FBF6EA">
                    <a:alpha val="70000"/>
                  </a:srgbClr>
                </a:solidFill>
                <a:latin typeface="Arial" pitchFamily="34" charset="0"/>
                <a:ea typeface="Arial" pitchFamily="34" charset="-122"/>
                <a:cs typeface="Arial" pitchFamily="34" charset="-120"/>
              </a:rPr>
              <a:t>The role picked at onboarding reshapes the navigation, the home screen, and the case-detail actions.</a:t>
            </a:r>
            <a:endParaRPr lang="en-US" sz="2400" dirty="0"/>
          </a:p>
        </p:txBody>
      </p:sp>
      <p:pic>
        <p:nvPicPr>
          <p:cNvPr id="4" name="Image 0" descr="preencoded.png">    </p:cNvPr>
          <p:cNvPicPr>
            <a:picLocks noChangeAspect="1"/>
          </p:cNvPicPr>
          <p:nvPr/>
        </p:nvPicPr>
        <p:blipFill>
          <a:blip r:embed="rId1"/>
          <a:srcRect l="-47639" r="-47639" t="0" b="0"/>
          <a:stretch/>
        </p:blipFill>
        <p:spPr>
          <a:xfrm>
            <a:off x="1047732" y="2847943"/>
            <a:ext cx="5143530" cy="5726536"/>
          </a:xfrm>
          <a:prstGeom prst="rect">
            <a:avLst/>
          </a:prstGeom>
        </p:spPr>
      </p:pic>
      <p:sp>
        <p:nvSpPr>
          <p:cNvPr id="5" name="Text 2"/>
          <p:cNvSpPr/>
          <p:nvPr/>
        </p:nvSpPr>
        <p:spPr>
          <a:xfrm>
            <a:off x="2477752" y="8726833"/>
            <a:ext cx="2283490" cy="523286"/>
          </a:xfrm>
          <a:prstGeom prst="rect">
            <a:avLst/>
          </a:prstGeom>
          <a:noFill/>
          <a:ln/>
        </p:spPr>
        <p:txBody>
          <a:bodyPr wrap="square" lIns="25400" tIns="25400" rIns="25400" bIns="25400" rtlCol="0" anchor="t">
            <a:normAutofit/>
          </a:bodyPr>
          <a:lstStyle/>
          <a:p>
            <a:pPr algn="ctr" indent="0" marL="0">
              <a:buNone/>
            </a:pPr>
            <a:r>
              <a:rPr lang="en-US" sz="3300" b="1" dirty="0">
                <a:solidFill>
                  <a:srgbClr val="FBF6EA"/>
                </a:solidFill>
                <a:latin typeface="Arial" pitchFamily="34" charset="0"/>
                <a:ea typeface="Arial" pitchFamily="34" charset="-122"/>
                <a:cs typeface="Arial" pitchFamily="34" charset="-120"/>
              </a:rPr>
              <a:t>Reporter</a:t>
            </a:r>
            <a:endParaRPr lang="en-US" sz="3300" dirty="0"/>
          </a:p>
        </p:txBody>
      </p:sp>
      <p:sp>
        <p:nvSpPr>
          <p:cNvPr id="6" name="Text 3"/>
          <p:cNvSpPr/>
          <p:nvPr/>
        </p:nvSpPr>
        <p:spPr>
          <a:xfrm>
            <a:off x="2477752" y="9212019"/>
            <a:ext cx="2283490" cy="351123"/>
          </a:xfrm>
          <a:prstGeom prst="rect">
            <a:avLst/>
          </a:prstGeom>
          <a:noFill/>
          <a:ln/>
        </p:spPr>
        <p:txBody>
          <a:bodyPr wrap="square" lIns="25400" tIns="25400" rIns="25400" bIns="25400" rtlCol="0" anchor="t">
            <a:normAutofit/>
          </a:bodyPr>
          <a:lstStyle/>
          <a:p>
            <a:pPr algn="ctr" indent="0" marL="0">
              <a:buNone/>
            </a:pPr>
            <a:r>
              <a:rPr lang="en-US" sz="1950" dirty="0">
                <a:solidFill>
                  <a:srgbClr val="FBF6EA">
                    <a:alpha val="65000"/>
                  </a:srgbClr>
                </a:solidFill>
                <a:latin typeface="Arial" pitchFamily="34" charset="0"/>
                <a:ea typeface="Arial" pitchFamily="34" charset="-122"/>
                <a:cs typeface="Arial" pitchFamily="34" charset="-120"/>
              </a:rPr>
              <a:t>Map &amp; report flow</a:t>
            </a:r>
            <a:endParaRPr lang="en-US" sz="1950" dirty="0"/>
          </a:p>
        </p:txBody>
      </p:sp>
      <p:pic>
        <p:nvPicPr>
          <p:cNvPr id="7" name="Image 1" descr="preencoded.png">    </p:cNvPr>
          <p:cNvPicPr>
            <a:picLocks noChangeAspect="1"/>
          </p:cNvPicPr>
          <p:nvPr/>
        </p:nvPicPr>
        <p:blipFill>
          <a:blip r:embed="rId2"/>
          <a:srcRect l="-47639" r="-47639" t="0" b="0"/>
          <a:stretch/>
        </p:blipFill>
        <p:spPr>
          <a:xfrm>
            <a:off x="6572188" y="2847943"/>
            <a:ext cx="5143530" cy="5726536"/>
          </a:xfrm>
          <a:prstGeom prst="rect">
            <a:avLst/>
          </a:prstGeom>
        </p:spPr>
      </p:pic>
      <p:sp>
        <p:nvSpPr>
          <p:cNvPr id="8" name="Text 4"/>
          <p:cNvSpPr/>
          <p:nvPr/>
        </p:nvSpPr>
        <p:spPr>
          <a:xfrm>
            <a:off x="7273744" y="8726833"/>
            <a:ext cx="3740418" cy="523286"/>
          </a:xfrm>
          <a:prstGeom prst="rect">
            <a:avLst/>
          </a:prstGeom>
          <a:noFill/>
          <a:ln/>
        </p:spPr>
        <p:txBody>
          <a:bodyPr wrap="square" lIns="25400" tIns="25400" rIns="25400" bIns="25400" rtlCol="0" anchor="t">
            <a:normAutofit/>
          </a:bodyPr>
          <a:lstStyle/>
          <a:p>
            <a:pPr algn="ctr" indent="0" marL="0">
              <a:buNone/>
            </a:pPr>
            <a:r>
              <a:rPr lang="en-US" sz="3300" b="1" dirty="0">
                <a:solidFill>
                  <a:srgbClr val="FBF6EA"/>
                </a:solidFill>
                <a:latin typeface="Arial" pitchFamily="34" charset="0"/>
                <a:ea typeface="Arial" pitchFamily="34" charset="-122"/>
                <a:cs typeface="Arial" pitchFamily="34" charset="-120"/>
              </a:rPr>
              <a:t>Volunteer</a:t>
            </a:r>
            <a:endParaRPr lang="en-US" sz="3300" dirty="0"/>
          </a:p>
        </p:txBody>
      </p:sp>
      <p:sp>
        <p:nvSpPr>
          <p:cNvPr id="9" name="Text 5"/>
          <p:cNvSpPr/>
          <p:nvPr/>
        </p:nvSpPr>
        <p:spPr>
          <a:xfrm>
            <a:off x="7273744" y="9212019"/>
            <a:ext cx="3740418" cy="351123"/>
          </a:xfrm>
          <a:prstGeom prst="rect">
            <a:avLst/>
          </a:prstGeom>
          <a:noFill/>
          <a:ln/>
        </p:spPr>
        <p:txBody>
          <a:bodyPr wrap="square" lIns="25400" tIns="25400" rIns="25400" bIns="25400" rtlCol="0" anchor="t">
            <a:normAutofit/>
          </a:bodyPr>
          <a:lstStyle/>
          <a:p>
            <a:pPr algn="ctr" indent="0" marL="0">
              <a:buNone/>
            </a:pPr>
            <a:r>
              <a:rPr lang="en-US" sz="1950" dirty="0">
                <a:solidFill>
                  <a:srgbClr val="FBF6EA">
                    <a:alpha val="65000"/>
                  </a:srgbClr>
                </a:solidFill>
                <a:latin typeface="Arial" pitchFamily="34" charset="0"/>
                <a:ea typeface="Arial" pitchFamily="34" charset="-122"/>
                <a:cs typeface="Arial" pitchFamily="34" charset="-120"/>
              </a:rPr>
              <a:t>Nearby queue, claim-nearest</a:t>
            </a:r>
            <a:endParaRPr lang="en-US" sz="1950" dirty="0"/>
          </a:p>
        </p:txBody>
      </p:sp>
      <p:pic>
        <p:nvPicPr>
          <p:cNvPr id="10" name="Image 2" descr="preencoded.png">    </p:cNvPr>
          <p:cNvPicPr>
            <a:picLocks noChangeAspect="1"/>
          </p:cNvPicPr>
          <p:nvPr/>
        </p:nvPicPr>
        <p:blipFill>
          <a:blip r:embed="rId3"/>
          <a:srcRect l="-47639" r="-47639" t="0" b="0"/>
          <a:stretch/>
        </p:blipFill>
        <p:spPr>
          <a:xfrm>
            <a:off x="12096644" y="2847943"/>
            <a:ext cx="5143530" cy="5726536"/>
          </a:xfrm>
          <a:prstGeom prst="rect">
            <a:avLst/>
          </a:prstGeom>
        </p:spPr>
      </p:pic>
      <p:sp>
        <p:nvSpPr>
          <p:cNvPr id="11" name="Text 6"/>
          <p:cNvSpPr/>
          <p:nvPr/>
        </p:nvSpPr>
        <p:spPr>
          <a:xfrm>
            <a:off x="13053575" y="8726833"/>
            <a:ext cx="3229668" cy="523286"/>
          </a:xfrm>
          <a:prstGeom prst="rect">
            <a:avLst/>
          </a:prstGeom>
          <a:noFill/>
          <a:ln/>
        </p:spPr>
        <p:txBody>
          <a:bodyPr wrap="square" lIns="25400" tIns="25400" rIns="25400" bIns="25400" rtlCol="0" anchor="t">
            <a:normAutofit/>
          </a:bodyPr>
          <a:lstStyle/>
          <a:p>
            <a:pPr algn="ctr" indent="0" marL="0">
              <a:buNone/>
            </a:pPr>
            <a:r>
              <a:rPr lang="en-US" sz="3300" b="1" dirty="0">
                <a:solidFill>
                  <a:srgbClr val="FBF6EA"/>
                </a:solidFill>
                <a:latin typeface="Arial" pitchFamily="34" charset="0"/>
                <a:ea typeface="Arial" pitchFamily="34" charset="-122"/>
                <a:cs typeface="Arial" pitchFamily="34" charset="-120"/>
              </a:rPr>
              <a:t>NGO / Shelter</a:t>
            </a:r>
            <a:endParaRPr lang="en-US" sz="3300" dirty="0"/>
          </a:p>
        </p:txBody>
      </p:sp>
      <p:sp>
        <p:nvSpPr>
          <p:cNvPr id="12" name="Text 7"/>
          <p:cNvSpPr/>
          <p:nvPr/>
        </p:nvSpPr>
        <p:spPr>
          <a:xfrm>
            <a:off x="13053575" y="9212019"/>
            <a:ext cx="3229668" cy="351123"/>
          </a:xfrm>
          <a:prstGeom prst="rect">
            <a:avLst/>
          </a:prstGeom>
          <a:noFill/>
          <a:ln/>
        </p:spPr>
        <p:txBody>
          <a:bodyPr wrap="square" lIns="25400" tIns="25400" rIns="25400" bIns="25400" rtlCol="0" anchor="t">
            <a:normAutofit/>
          </a:bodyPr>
          <a:lstStyle/>
          <a:p>
            <a:pPr algn="ctr" indent="0" marL="0">
              <a:buNone/>
            </a:pPr>
            <a:r>
              <a:rPr lang="en-US" sz="1950" dirty="0">
                <a:solidFill>
                  <a:srgbClr val="FBF6EA">
                    <a:alpha val="65000"/>
                  </a:srgbClr>
                </a:solidFill>
                <a:latin typeface="Arial" pitchFamily="34" charset="0"/>
                <a:ea typeface="Arial" pitchFamily="34" charset="-122"/>
                <a:cs typeface="Arial" pitchFamily="34" charset="-120"/>
              </a:rPr>
              <a:t>Dashboard &amp; case queue</a:t>
            </a:r>
            <a:endParaRPr lang="en-US" sz="1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6EA"/>
        </a:solidFill>
      </p:bgPr>
    </p:bg>
    <p:spTree>
      <p:nvGrpSpPr>
        <p:cNvPr id="1" name=""/>
        <p:cNvGrpSpPr/>
        <p:nvPr/>
      </p:nvGrpSpPr>
      <p:grpSpPr>
        <a:xfrm>
          <a:off x="0" y="0"/>
          <a:ext cx="0" cy="0"/>
          <a:chOff x="0" y="0"/>
          <a:chExt cx="0" cy="0"/>
        </a:xfrm>
      </p:grpSpPr>
      <p:sp>
        <p:nvSpPr>
          <p:cNvPr id="2" name="Text 0"/>
          <p:cNvSpPr/>
          <p:nvPr/>
        </p:nvSpPr>
        <p:spPr>
          <a:xfrm>
            <a:off x="1047732" y="3791333"/>
            <a:ext cx="12732882" cy="742403"/>
          </a:xfrm>
          <a:prstGeom prst="rect">
            <a:avLst/>
          </a:prstGeom>
          <a:noFill/>
          <a:ln/>
        </p:spPr>
        <p:txBody>
          <a:bodyPr wrap="square" lIns="25400" tIns="25400" rIns="25400" bIns="25400" rtlCol="0" anchor="t">
            <a:normAutofit/>
          </a:bodyPr>
          <a:lstStyle/>
          <a:p>
            <a:pPr algn="l" indent="0" marL="0">
              <a:buNone/>
            </a:pPr>
            <a:r>
              <a:rPr lang="en-US" sz="4800" b="1" dirty="0">
                <a:solidFill>
                  <a:srgbClr val="163832"/>
                </a:solidFill>
                <a:latin typeface="Arial" pitchFamily="34" charset="0"/>
                <a:ea typeface="Arial" pitchFamily="34" charset="-122"/>
                <a:cs typeface="Arial" pitchFamily="34" charset="-120"/>
              </a:rPr>
              <a:t>Live Rescue Map</a:t>
            </a:r>
            <a:endParaRPr lang="en-US" sz="4800" dirty="0"/>
          </a:p>
        </p:txBody>
      </p:sp>
      <p:sp>
        <p:nvSpPr>
          <p:cNvPr id="3" name="Text 1"/>
          <p:cNvSpPr/>
          <p:nvPr/>
        </p:nvSpPr>
        <p:spPr>
          <a:xfrm>
            <a:off x="1047732" y="4819420"/>
            <a:ext cx="12732882" cy="495245"/>
          </a:xfrm>
          <a:prstGeom prst="rect">
            <a:avLst/>
          </a:prstGeom>
          <a:noFill/>
          <a:ln/>
        </p:spPr>
        <p:txBody>
          <a:bodyPr wrap="square" lIns="25400" tIns="25400" rIns="25400" bIns="25400" rtlCol="0" anchor="t">
            <a:normAutofit/>
          </a:bodyPr>
          <a:lstStyle/>
          <a:p>
            <a:pPr algn="l" indent="0" marL="0">
              <a:lnSpc>
                <a:spcPct val="130799"/>
              </a:lnSpc>
              <a:buNone/>
            </a:pPr>
            <a:r>
              <a:rPr lang="en-US" sz="2400" dirty="0">
                <a:solidFill>
                  <a:srgbClr val="17302B">
                    <a:alpha val="75000"/>
                  </a:srgbClr>
                </a:solidFill>
                <a:latin typeface="Arial" pitchFamily="34" charset="0"/>
                <a:ea typeface="Arial" pitchFamily="34" charset="-122"/>
                <a:cs typeface="Arial" pitchFamily="34" charset="-120"/>
              </a:rPr>
              <a:t>Every open case, plotted live and color-coded by urgency.</a:t>
            </a:r>
            <a:endParaRPr lang="en-US" sz="2400" dirty="0"/>
          </a:p>
        </p:txBody>
      </p:sp>
      <p:sp>
        <p:nvSpPr>
          <p:cNvPr id="4" name="Text 2"/>
          <p:cNvSpPr/>
          <p:nvPr/>
        </p:nvSpPr>
        <p:spPr>
          <a:xfrm>
            <a:off x="1047732" y="5524212"/>
            <a:ext cx="12732882" cy="495245"/>
          </a:xfrm>
          <a:prstGeom prst="rect">
            <a:avLst/>
          </a:prstGeom>
          <a:noFill/>
          <a:ln/>
        </p:spPr>
        <p:txBody>
          <a:bodyPr wrap="square" lIns="25400" tIns="25400" rIns="25400" bIns="25400" rtlCol="0" anchor="t">
            <a:normAutofit/>
          </a:bodyPr>
          <a:lstStyle/>
          <a:p>
            <a:pPr algn="l" indent="0" marL="0">
              <a:lnSpc>
                <a:spcPct val="130799"/>
              </a:lnSpc>
              <a:buNone/>
            </a:pPr>
            <a:r>
              <a:rPr lang="en-US" sz="2400" dirty="0">
                <a:solidFill>
                  <a:srgbClr val="17302B">
                    <a:alpha val="75000"/>
                  </a:srgbClr>
                </a:solidFill>
                <a:latin typeface="Arial" pitchFamily="34" charset="0"/>
                <a:ea typeface="Arial" pitchFamily="34" charset="-122"/>
                <a:cs typeface="Arial" pitchFamily="34" charset="-120"/>
              </a:rPr>
              <a:t>Filter by species, urgency, distance, or status.</a:t>
            </a:r>
            <a:endParaRPr lang="en-US" sz="2400" dirty="0"/>
          </a:p>
        </p:txBody>
      </p:sp>
      <p:sp>
        <p:nvSpPr>
          <p:cNvPr id="5" name="Text 3"/>
          <p:cNvSpPr/>
          <p:nvPr/>
        </p:nvSpPr>
        <p:spPr>
          <a:xfrm>
            <a:off x="1047732" y="6229004"/>
            <a:ext cx="12732882" cy="495245"/>
          </a:xfrm>
          <a:prstGeom prst="rect">
            <a:avLst/>
          </a:prstGeom>
          <a:noFill/>
          <a:ln/>
        </p:spPr>
        <p:txBody>
          <a:bodyPr wrap="square" lIns="25400" tIns="25400" rIns="25400" bIns="25400" rtlCol="0" anchor="t">
            <a:normAutofit/>
          </a:bodyPr>
          <a:lstStyle/>
          <a:p>
            <a:pPr algn="l" indent="0" marL="0">
              <a:lnSpc>
                <a:spcPct val="130799"/>
              </a:lnSpc>
              <a:buNone/>
            </a:pPr>
            <a:r>
              <a:rPr lang="en-US" sz="2400" dirty="0">
                <a:solidFill>
                  <a:srgbClr val="17302B">
                    <a:alpha val="75000"/>
                  </a:srgbClr>
                </a:solidFill>
                <a:latin typeface="Arial" pitchFamily="34" charset="0"/>
                <a:ea typeface="Arial" pitchFamily="34" charset="-122"/>
                <a:cs typeface="Arial" pitchFamily="34" charset="-120"/>
              </a:rPr>
              <a:t>Tap any pin for an instant preview before diving in.</a:t>
            </a:r>
            <a:endParaRPr lang="en-US" sz="2400" dirty="0"/>
          </a:p>
        </p:txBody>
      </p:sp>
      <p:pic>
        <p:nvPicPr>
          <p:cNvPr id="6" name="Image 0" descr="preencoded.png">    </p:cNvPr>
          <p:cNvPicPr>
            <a:picLocks noChangeAspect="1"/>
          </p:cNvPicPr>
          <p:nvPr/>
        </p:nvPicPr>
        <p:blipFill>
          <a:blip r:embed="rId1"/>
          <a:srcRect l="0" r="0" t="-1" b="-1"/>
          <a:stretch/>
        </p:blipFill>
        <p:spPr>
          <a:xfrm>
            <a:off x="13385013" y="1032081"/>
            <a:ext cx="3855243" cy="838193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6EA"/>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1" b="-1"/>
          <a:stretch/>
        </p:blipFill>
        <p:spPr>
          <a:xfrm>
            <a:off x="1047732" y="1032081"/>
            <a:ext cx="3855243" cy="8381937"/>
          </a:xfrm>
          <a:prstGeom prst="rect">
            <a:avLst/>
          </a:prstGeom>
        </p:spPr>
      </p:pic>
      <p:sp>
        <p:nvSpPr>
          <p:cNvPr id="3" name="Text 0"/>
          <p:cNvSpPr/>
          <p:nvPr/>
        </p:nvSpPr>
        <p:spPr>
          <a:xfrm>
            <a:off x="5664909" y="3473012"/>
            <a:ext cx="11922607" cy="1379047"/>
          </a:xfrm>
          <a:prstGeom prst="rect">
            <a:avLst/>
          </a:prstGeom>
          <a:noFill/>
          <a:ln/>
        </p:spPr>
        <p:txBody>
          <a:bodyPr wrap="square" lIns="25400" tIns="25400" rIns="25400" bIns="25400" rtlCol="0" anchor="t">
            <a:normAutofit/>
          </a:bodyPr>
          <a:lstStyle/>
          <a:p>
            <a:pPr algn="l" indent="0" marL="0">
              <a:lnSpc>
                <a:spcPct val="95209"/>
              </a:lnSpc>
              <a:buNone/>
            </a:pPr>
            <a:r>
              <a:rPr lang="en-US" sz="4800" b="1" dirty="0">
                <a:solidFill>
                  <a:srgbClr val="163832"/>
                </a:solidFill>
                <a:latin typeface="Arial" pitchFamily="34" charset="0"/>
                <a:ea typeface="Arial" pitchFamily="34" charset="-122"/>
                <a:cs typeface="Arial" pitchFamily="34" charset="-120"/>
              </a:rPr>
              <a:t>Report In Under 30 Seconds</a:t>
            </a:r>
            <a:endParaRPr lang="en-US" sz="4800" dirty="0"/>
          </a:p>
        </p:txBody>
      </p:sp>
      <p:sp>
        <p:nvSpPr>
          <p:cNvPr id="4" name="Text 1"/>
          <p:cNvSpPr/>
          <p:nvPr/>
        </p:nvSpPr>
        <p:spPr>
          <a:xfrm>
            <a:off x="5664909" y="5137742"/>
            <a:ext cx="12732882" cy="495245"/>
          </a:xfrm>
          <a:prstGeom prst="rect">
            <a:avLst/>
          </a:prstGeom>
          <a:noFill/>
          <a:ln/>
        </p:spPr>
        <p:txBody>
          <a:bodyPr wrap="square" lIns="25400" tIns="25400" rIns="25400" bIns="25400" rtlCol="0" anchor="t">
            <a:normAutofit/>
          </a:bodyPr>
          <a:lstStyle/>
          <a:p>
            <a:pPr algn="l" indent="0" marL="0">
              <a:lnSpc>
                <a:spcPct val="130799"/>
              </a:lnSpc>
              <a:buNone/>
            </a:pPr>
            <a:r>
              <a:rPr lang="en-US" sz="2400" dirty="0">
                <a:solidFill>
                  <a:srgbClr val="17302B">
                    <a:alpha val="75000"/>
                  </a:srgbClr>
                </a:solidFill>
                <a:latin typeface="Arial" pitchFamily="34" charset="0"/>
                <a:ea typeface="Arial" pitchFamily="34" charset="-122"/>
                <a:cs typeface="Arial" pitchFamily="34" charset="-120"/>
              </a:rPr>
              <a:t>Snap a photo — AI suggests species, breed, and condition tags.</a:t>
            </a:r>
            <a:endParaRPr lang="en-US" sz="2400" dirty="0"/>
          </a:p>
        </p:txBody>
      </p:sp>
      <p:sp>
        <p:nvSpPr>
          <p:cNvPr id="5" name="Text 2"/>
          <p:cNvSpPr/>
          <p:nvPr/>
        </p:nvSpPr>
        <p:spPr>
          <a:xfrm>
            <a:off x="5664909" y="5842534"/>
            <a:ext cx="12732882" cy="495245"/>
          </a:xfrm>
          <a:prstGeom prst="rect">
            <a:avLst/>
          </a:prstGeom>
          <a:noFill/>
          <a:ln/>
        </p:spPr>
        <p:txBody>
          <a:bodyPr wrap="square" lIns="25400" tIns="25400" rIns="25400" bIns="25400" rtlCol="0" anchor="t">
            <a:normAutofit/>
          </a:bodyPr>
          <a:lstStyle/>
          <a:p>
            <a:pPr algn="l" indent="0" marL="0">
              <a:lnSpc>
                <a:spcPct val="130799"/>
              </a:lnSpc>
              <a:buNone/>
            </a:pPr>
            <a:r>
              <a:rPr lang="en-US" sz="2400" dirty="0">
                <a:solidFill>
                  <a:srgbClr val="17302B">
                    <a:alpha val="75000"/>
                  </a:srgbClr>
                </a:solidFill>
                <a:latin typeface="Arial" pitchFamily="34" charset="0"/>
                <a:ea typeface="Arial" pitchFamily="34" charset="-122"/>
                <a:cs typeface="Arial" pitchFamily="34" charset="-120"/>
              </a:rPr>
              <a:t>Confirm the location, dragging the pin if it's off.</a:t>
            </a:r>
            <a:endParaRPr lang="en-US" sz="2400" dirty="0"/>
          </a:p>
        </p:txBody>
      </p:sp>
      <p:sp>
        <p:nvSpPr>
          <p:cNvPr id="6" name="Text 3"/>
          <p:cNvSpPr/>
          <p:nvPr/>
        </p:nvSpPr>
        <p:spPr>
          <a:xfrm>
            <a:off x="5664909" y="6547326"/>
            <a:ext cx="12732882" cy="495245"/>
          </a:xfrm>
          <a:prstGeom prst="rect">
            <a:avLst/>
          </a:prstGeom>
          <a:noFill/>
          <a:ln/>
        </p:spPr>
        <p:txBody>
          <a:bodyPr wrap="square" lIns="25400" tIns="25400" rIns="25400" bIns="25400" rtlCol="0" anchor="t">
            <a:normAutofit/>
          </a:bodyPr>
          <a:lstStyle/>
          <a:p>
            <a:pPr algn="l" indent="0" marL="0">
              <a:lnSpc>
                <a:spcPct val="130799"/>
              </a:lnSpc>
              <a:buNone/>
            </a:pPr>
            <a:r>
              <a:rPr lang="en-US" sz="2400" dirty="0">
                <a:solidFill>
                  <a:srgbClr val="17302B">
                    <a:alpha val="75000"/>
                  </a:srgbClr>
                </a:solidFill>
                <a:latin typeface="Arial" pitchFamily="34" charset="0"/>
                <a:ea typeface="Arial" pitchFamily="34" charset="-122"/>
                <a:cs typeface="Arial" pitchFamily="34" charset="-120"/>
              </a:rPr>
              <a:t>Pick an urgency level, add a note, and submit.</a:t>
            </a:r>
            <a:endParaRPr lang="en-US"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6EA"/>
        </a:solidFill>
      </p:bgPr>
    </p:bg>
    <p:spTree>
      <p:nvGrpSpPr>
        <p:cNvPr id="1" name=""/>
        <p:cNvGrpSpPr/>
        <p:nvPr/>
      </p:nvGrpSpPr>
      <p:grpSpPr>
        <a:xfrm>
          <a:off x="0" y="0"/>
          <a:ext cx="0" cy="0"/>
          <a:chOff x="0" y="0"/>
          <a:chExt cx="0" cy="0"/>
        </a:xfrm>
      </p:grpSpPr>
      <p:sp>
        <p:nvSpPr>
          <p:cNvPr id="2" name="Text 0"/>
          <p:cNvSpPr/>
          <p:nvPr/>
        </p:nvSpPr>
        <p:spPr>
          <a:xfrm>
            <a:off x="1047732" y="3086786"/>
            <a:ext cx="11922607" cy="1446706"/>
          </a:xfrm>
          <a:prstGeom prst="rect">
            <a:avLst/>
          </a:prstGeom>
          <a:noFill/>
          <a:ln/>
        </p:spPr>
        <p:txBody>
          <a:bodyPr wrap="square" lIns="25400" tIns="25400" rIns="25400" bIns="25400" rtlCol="0" anchor="t">
            <a:normAutofit/>
          </a:bodyPr>
          <a:lstStyle/>
          <a:p>
            <a:pPr algn="l" indent="0" marL="0">
              <a:buNone/>
            </a:pPr>
            <a:r>
              <a:rPr lang="en-US" sz="4800" b="1" dirty="0">
                <a:solidFill>
                  <a:srgbClr val="163832"/>
                </a:solidFill>
                <a:latin typeface="Arial" pitchFamily="34" charset="0"/>
                <a:ea typeface="Arial" pitchFamily="34" charset="-122"/>
                <a:cs typeface="Arial" pitchFamily="34" charset="-120"/>
              </a:rPr>
              <a:t>Nearest Rescuer Responds</a:t>
            </a:r>
            <a:endParaRPr lang="en-US" sz="4800" dirty="0"/>
          </a:p>
        </p:txBody>
      </p:sp>
      <p:sp>
        <p:nvSpPr>
          <p:cNvPr id="3" name="Text 1"/>
          <p:cNvSpPr/>
          <p:nvPr/>
        </p:nvSpPr>
        <p:spPr>
          <a:xfrm>
            <a:off x="1047732" y="4819175"/>
            <a:ext cx="12732882" cy="495245"/>
          </a:xfrm>
          <a:prstGeom prst="rect">
            <a:avLst/>
          </a:prstGeom>
          <a:noFill/>
          <a:ln/>
        </p:spPr>
        <p:txBody>
          <a:bodyPr wrap="square" lIns="25400" tIns="25400" rIns="25400" bIns="25400" rtlCol="0" anchor="t">
            <a:normAutofit/>
          </a:bodyPr>
          <a:lstStyle/>
          <a:p>
            <a:pPr algn="l" indent="0" marL="0">
              <a:lnSpc>
                <a:spcPct val="130799"/>
              </a:lnSpc>
              <a:buNone/>
            </a:pPr>
            <a:r>
              <a:rPr lang="en-US" sz="2400" dirty="0">
                <a:solidFill>
                  <a:srgbClr val="17302B">
                    <a:alpha val="75000"/>
                  </a:srgbClr>
                </a:solidFill>
                <a:latin typeface="Arial" pitchFamily="34" charset="0"/>
                <a:ea typeface="Arial" pitchFamily="34" charset="-122"/>
                <a:cs typeface="Arial" pitchFamily="34" charset="-120"/>
              </a:rPr>
              <a:t>"I'll help" claims the case instantly — the reporter is notified.</a:t>
            </a:r>
            <a:endParaRPr lang="en-US" sz="2400" dirty="0"/>
          </a:p>
        </p:txBody>
      </p:sp>
      <p:sp>
        <p:nvSpPr>
          <p:cNvPr id="4" name="Text 2"/>
          <p:cNvSpPr/>
          <p:nvPr/>
        </p:nvSpPr>
        <p:spPr>
          <a:xfrm>
            <a:off x="1047732" y="5523967"/>
            <a:ext cx="12732882" cy="495245"/>
          </a:xfrm>
          <a:prstGeom prst="rect">
            <a:avLst/>
          </a:prstGeom>
          <a:noFill/>
          <a:ln/>
        </p:spPr>
        <p:txBody>
          <a:bodyPr wrap="square" lIns="25400" tIns="25400" rIns="25400" bIns="25400" rtlCol="0" anchor="t">
            <a:normAutofit/>
          </a:bodyPr>
          <a:lstStyle/>
          <a:p>
            <a:pPr algn="l" indent="0" marL="0">
              <a:lnSpc>
                <a:spcPct val="130799"/>
              </a:lnSpc>
              <a:buNone/>
            </a:pPr>
            <a:r>
              <a:rPr lang="en-US" sz="2400" dirty="0">
                <a:solidFill>
                  <a:srgbClr val="17302B">
                    <a:alpha val="75000"/>
                  </a:srgbClr>
                </a:solidFill>
                <a:latin typeface="Arial" pitchFamily="34" charset="0"/>
                <a:ea typeface="Arial" pitchFamily="34" charset="-122"/>
                <a:cs typeface="Arial" pitchFamily="34" charset="-120"/>
              </a:rPr>
              <a:t>A status timeline tracks Reported → Claimed → In Progress → Resolved.</a:t>
            </a:r>
            <a:endParaRPr lang="en-US" sz="2400" dirty="0"/>
          </a:p>
        </p:txBody>
      </p:sp>
      <p:sp>
        <p:nvSpPr>
          <p:cNvPr id="5" name="Text 3"/>
          <p:cNvSpPr/>
          <p:nvPr/>
        </p:nvSpPr>
        <p:spPr>
          <a:xfrm>
            <a:off x="1047732" y="6228759"/>
            <a:ext cx="12732882" cy="495245"/>
          </a:xfrm>
          <a:prstGeom prst="rect">
            <a:avLst/>
          </a:prstGeom>
          <a:noFill/>
          <a:ln/>
        </p:spPr>
        <p:txBody>
          <a:bodyPr wrap="square" lIns="25400" tIns="25400" rIns="25400" bIns="25400" rtlCol="0" anchor="t">
            <a:normAutofit/>
          </a:bodyPr>
          <a:lstStyle/>
          <a:p>
            <a:pPr algn="l" indent="0" marL="0">
              <a:lnSpc>
                <a:spcPct val="130799"/>
              </a:lnSpc>
              <a:buNone/>
            </a:pPr>
            <a:r>
              <a:rPr lang="en-US" sz="2400" dirty="0">
                <a:solidFill>
                  <a:srgbClr val="17302B">
                    <a:alpha val="75000"/>
                  </a:srgbClr>
                </a:solidFill>
                <a:latin typeface="Arial" pitchFamily="34" charset="0"/>
                <a:ea typeface="Arial" pitchFamily="34" charset="-122"/>
                <a:cs typeface="Arial" pitchFamily="34" charset="-120"/>
              </a:rPr>
              <a:t>In-app chat keeps reporter and rescuer coordinated.</a:t>
            </a:r>
            <a:endParaRPr lang="en-US" sz="2400" dirty="0"/>
          </a:p>
        </p:txBody>
      </p:sp>
      <p:sp>
        <p:nvSpPr>
          <p:cNvPr id="6" name="Text 4"/>
          <p:cNvSpPr/>
          <p:nvPr/>
        </p:nvSpPr>
        <p:spPr>
          <a:xfrm>
            <a:off x="1047732" y="6933551"/>
            <a:ext cx="12732882" cy="495245"/>
          </a:xfrm>
          <a:prstGeom prst="rect">
            <a:avLst/>
          </a:prstGeom>
          <a:noFill/>
          <a:ln/>
        </p:spPr>
        <p:txBody>
          <a:bodyPr wrap="square" lIns="25400" tIns="25400" rIns="25400" bIns="25400" rtlCol="0" anchor="t">
            <a:normAutofit/>
          </a:bodyPr>
          <a:lstStyle/>
          <a:p>
            <a:pPr algn="l" indent="0" marL="0">
              <a:lnSpc>
                <a:spcPct val="130799"/>
              </a:lnSpc>
              <a:buNone/>
            </a:pPr>
            <a:r>
              <a:rPr lang="en-US" sz="2400" dirty="0">
                <a:solidFill>
                  <a:srgbClr val="17302B">
                    <a:alpha val="75000"/>
                  </a:srgbClr>
                </a:solidFill>
                <a:latin typeface="Arial" pitchFamily="34" charset="0"/>
                <a:ea typeface="Arial" pitchFamily="34" charset="-122"/>
                <a:cs typeface="Arial" pitchFamily="34" charset="-120"/>
              </a:rPr>
              <a:t>NGOs see an extra layer here: reassign the volunteer and add internal notes.</a:t>
            </a:r>
            <a:endParaRPr lang="en-US" sz="2400" dirty="0"/>
          </a:p>
        </p:txBody>
      </p:sp>
      <p:pic>
        <p:nvPicPr>
          <p:cNvPr id="7" name="Image 0" descr="preencoded.png">    </p:cNvPr>
          <p:cNvPicPr>
            <a:picLocks noChangeAspect="1"/>
          </p:cNvPicPr>
          <p:nvPr/>
        </p:nvPicPr>
        <p:blipFill>
          <a:blip r:embed="rId1"/>
          <a:srcRect l="0" r="0" t="-1" b="-1"/>
          <a:stretch/>
        </p:blipFill>
        <p:spPr>
          <a:xfrm>
            <a:off x="13385013" y="1032081"/>
            <a:ext cx="3855243" cy="8381937"/>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6EA"/>
        </a:solidFill>
      </p:bgPr>
    </p:bg>
    <p:spTree>
      <p:nvGrpSpPr>
        <p:cNvPr id="1" name=""/>
        <p:cNvGrpSpPr/>
        <p:nvPr/>
      </p:nvGrpSpPr>
      <p:grpSpPr>
        <a:xfrm>
          <a:off x="0" y="0"/>
          <a:ext cx="0" cy="0"/>
          <a:chOff x="0" y="0"/>
          <a:chExt cx="0" cy="0"/>
        </a:xfrm>
      </p:grpSpPr>
      <p:sp>
        <p:nvSpPr>
          <p:cNvPr id="2" name="Text 0"/>
          <p:cNvSpPr/>
          <p:nvPr/>
        </p:nvSpPr>
        <p:spPr>
          <a:xfrm>
            <a:off x="1047732" y="3562761"/>
            <a:ext cx="8885937" cy="742403"/>
          </a:xfrm>
          <a:prstGeom prst="rect">
            <a:avLst/>
          </a:prstGeom>
          <a:noFill/>
          <a:ln/>
        </p:spPr>
        <p:txBody>
          <a:bodyPr wrap="square" lIns="25400" tIns="25400" rIns="25400" bIns="25400" rtlCol="0" anchor="t">
            <a:normAutofit/>
          </a:bodyPr>
          <a:lstStyle/>
          <a:p>
            <a:pPr algn="l" indent="0" marL="0">
              <a:buNone/>
            </a:pPr>
            <a:r>
              <a:rPr lang="en-US" sz="4800" b="1" dirty="0">
                <a:solidFill>
                  <a:srgbClr val="163832"/>
                </a:solidFill>
                <a:latin typeface="Arial" pitchFamily="34" charset="0"/>
                <a:ea typeface="Arial" pitchFamily="34" charset="-122"/>
                <a:cs typeface="Arial" pitchFamily="34" charset="-120"/>
              </a:rPr>
              <a:t>Track Every Rescue</a:t>
            </a:r>
            <a:endParaRPr lang="en-US" sz="4800" dirty="0"/>
          </a:p>
        </p:txBody>
      </p:sp>
      <p:sp>
        <p:nvSpPr>
          <p:cNvPr id="3" name="Text 1"/>
          <p:cNvSpPr/>
          <p:nvPr/>
        </p:nvSpPr>
        <p:spPr>
          <a:xfrm>
            <a:off x="1047732" y="4590848"/>
            <a:ext cx="8885937" cy="495245"/>
          </a:xfrm>
          <a:prstGeom prst="rect">
            <a:avLst/>
          </a:prstGeom>
          <a:noFill/>
          <a:ln/>
        </p:spPr>
        <p:txBody>
          <a:bodyPr wrap="square" lIns="25400" tIns="25400" rIns="25400" bIns="25400" rtlCol="0" anchor="t">
            <a:normAutofit/>
          </a:bodyPr>
          <a:lstStyle/>
          <a:p>
            <a:pPr algn="l" indent="0" marL="0">
              <a:lnSpc>
                <a:spcPct val="130799"/>
              </a:lnSpc>
              <a:buNone/>
            </a:pPr>
            <a:r>
              <a:rPr lang="en-US" sz="2400" dirty="0">
                <a:solidFill>
                  <a:srgbClr val="17302B">
                    <a:alpha val="75000"/>
                  </a:srgbClr>
                </a:solidFill>
                <a:latin typeface="Arial" pitchFamily="34" charset="0"/>
                <a:ea typeface="Arial" pitchFamily="34" charset="-122"/>
                <a:cs typeface="Arial" pitchFamily="34" charset="-120"/>
              </a:rPr>
              <a:t>A personal activity feed: Reported, Claimed, Resolved.</a:t>
            </a:r>
            <a:endParaRPr lang="en-US" sz="2400" dirty="0"/>
          </a:p>
        </p:txBody>
      </p:sp>
      <p:sp>
        <p:nvSpPr>
          <p:cNvPr id="4" name="Text 2"/>
          <p:cNvSpPr/>
          <p:nvPr/>
        </p:nvSpPr>
        <p:spPr>
          <a:xfrm>
            <a:off x="1047732" y="5295640"/>
            <a:ext cx="8320468" cy="952389"/>
          </a:xfrm>
          <a:prstGeom prst="rect">
            <a:avLst/>
          </a:prstGeom>
          <a:noFill/>
          <a:ln/>
        </p:spPr>
        <p:txBody>
          <a:bodyPr wrap="square" lIns="25400" tIns="25400" rIns="25400" bIns="25400" rtlCol="0" anchor="t">
            <a:normAutofit/>
          </a:bodyPr>
          <a:lstStyle/>
          <a:p>
            <a:pPr algn="l" indent="0" marL="0">
              <a:lnSpc>
                <a:spcPct val="130799"/>
              </a:lnSpc>
              <a:buNone/>
            </a:pPr>
            <a:r>
              <a:rPr lang="en-US" sz="2400" dirty="0">
                <a:solidFill>
                  <a:srgbClr val="17302B">
                    <a:alpha val="75000"/>
                  </a:srgbClr>
                </a:solidFill>
                <a:latin typeface="Arial" pitchFamily="34" charset="0"/>
                <a:ea typeface="Arial" pitchFamily="34" charset="-122"/>
                <a:cs typeface="Arial" pitchFamily="34" charset="-120"/>
              </a:rPr>
              <a:t>Verified shelters &amp; vets nearby, with live hours and services.</a:t>
            </a:r>
            <a:endParaRPr lang="en-US" sz="2400" dirty="0"/>
          </a:p>
        </p:txBody>
      </p:sp>
      <p:sp>
        <p:nvSpPr>
          <p:cNvPr id="5" name="Text 3"/>
          <p:cNvSpPr/>
          <p:nvPr/>
        </p:nvSpPr>
        <p:spPr>
          <a:xfrm>
            <a:off x="1047732" y="6457576"/>
            <a:ext cx="8885937" cy="495245"/>
          </a:xfrm>
          <a:prstGeom prst="rect">
            <a:avLst/>
          </a:prstGeom>
          <a:noFill/>
          <a:ln/>
        </p:spPr>
        <p:txBody>
          <a:bodyPr wrap="square" lIns="25400" tIns="25400" rIns="25400" bIns="25400" rtlCol="0" anchor="t">
            <a:normAutofit/>
          </a:bodyPr>
          <a:lstStyle/>
          <a:p>
            <a:pPr algn="l" indent="0" marL="0">
              <a:lnSpc>
                <a:spcPct val="130799"/>
              </a:lnSpc>
              <a:buNone/>
            </a:pPr>
            <a:r>
              <a:rPr lang="en-US" sz="2400" dirty="0">
                <a:solidFill>
                  <a:srgbClr val="17302B">
                    <a:alpha val="75000"/>
                  </a:srgbClr>
                </a:solidFill>
                <a:latin typeface="Arial" pitchFamily="34" charset="0"/>
                <a:ea typeface="Arial" pitchFamily="34" charset="-122"/>
                <a:cs typeface="Arial" pitchFamily="34" charset="-120"/>
              </a:rPr>
              <a:t>One tap to call or get directions.</a:t>
            </a:r>
            <a:endParaRPr lang="en-US" sz="2400" dirty="0"/>
          </a:p>
        </p:txBody>
      </p:sp>
      <p:pic>
        <p:nvPicPr>
          <p:cNvPr id="6" name="Image 0" descr="preencoded.png">    </p:cNvPr>
          <p:cNvPicPr>
            <a:picLocks noChangeAspect="1"/>
          </p:cNvPicPr>
          <p:nvPr/>
        </p:nvPicPr>
        <p:blipFill>
          <a:blip r:embed="rId1"/>
          <a:srcRect l="0" r="0" t="0" b="0"/>
          <a:stretch/>
        </p:blipFill>
        <p:spPr>
          <a:xfrm>
            <a:off x="9887792" y="1428740"/>
            <a:ext cx="3504803" cy="7619920"/>
          </a:xfrm>
          <a:prstGeom prst="rect">
            <a:avLst/>
          </a:prstGeom>
        </p:spPr>
      </p:pic>
      <p:pic>
        <p:nvPicPr>
          <p:cNvPr id="7" name="Image 1" descr="preencoded.png">    </p:cNvPr>
          <p:cNvPicPr>
            <a:picLocks noChangeAspect="1"/>
          </p:cNvPicPr>
          <p:nvPr/>
        </p:nvPicPr>
        <p:blipFill>
          <a:blip r:embed="rId2"/>
          <a:srcRect l="0" r="0" t="0" b="0"/>
          <a:stretch/>
        </p:blipFill>
        <p:spPr>
          <a:xfrm>
            <a:off x="13735452" y="1428740"/>
            <a:ext cx="3504803" cy="761992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6EA"/>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1047732" y="1428740"/>
            <a:ext cx="3504803" cy="7619920"/>
          </a:xfrm>
          <a:prstGeom prst="rect">
            <a:avLst/>
          </a:prstGeom>
        </p:spPr>
      </p:pic>
      <p:pic>
        <p:nvPicPr>
          <p:cNvPr id="3" name="Image 1" descr="preencoded.png">    </p:cNvPr>
          <p:cNvPicPr>
            <a:picLocks noChangeAspect="1"/>
          </p:cNvPicPr>
          <p:nvPr/>
        </p:nvPicPr>
        <p:blipFill>
          <a:blip r:embed="rId2"/>
          <a:srcRect l="0" r="0" t="0" b="0"/>
          <a:stretch/>
        </p:blipFill>
        <p:spPr>
          <a:xfrm>
            <a:off x="4895394" y="1428740"/>
            <a:ext cx="3504803" cy="7619920"/>
          </a:xfrm>
          <a:prstGeom prst="rect">
            <a:avLst/>
          </a:prstGeom>
        </p:spPr>
      </p:pic>
      <p:sp>
        <p:nvSpPr>
          <p:cNvPr id="4" name="Text 0"/>
          <p:cNvSpPr/>
          <p:nvPr/>
        </p:nvSpPr>
        <p:spPr>
          <a:xfrm>
            <a:off x="9162131" y="3439182"/>
            <a:ext cx="8320468" cy="1446706"/>
          </a:xfrm>
          <a:prstGeom prst="rect">
            <a:avLst/>
          </a:prstGeom>
          <a:noFill/>
          <a:ln/>
        </p:spPr>
        <p:txBody>
          <a:bodyPr wrap="square" lIns="25400" tIns="25400" rIns="25400" bIns="25400" rtlCol="0" anchor="t">
            <a:normAutofit/>
          </a:bodyPr>
          <a:lstStyle/>
          <a:p>
            <a:pPr algn="l" indent="0" marL="0">
              <a:buNone/>
            </a:pPr>
            <a:r>
              <a:rPr lang="en-US" sz="4800" b="1" dirty="0">
                <a:solidFill>
                  <a:srgbClr val="163832"/>
                </a:solidFill>
                <a:latin typeface="Arial" pitchFamily="34" charset="0"/>
                <a:ea typeface="Arial" pitchFamily="34" charset="-122"/>
                <a:cs typeface="Arial" pitchFamily="34" charset="-120"/>
              </a:rPr>
              <a:t>Adoption &amp; Community</a:t>
            </a:r>
            <a:endParaRPr lang="en-US" sz="4800" dirty="0"/>
          </a:p>
        </p:txBody>
      </p:sp>
      <p:sp>
        <p:nvSpPr>
          <p:cNvPr id="5" name="Text 1"/>
          <p:cNvSpPr/>
          <p:nvPr/>
        </p:nvSpPr>
        <p:spPr>
          <a:xfrm>
            <a:off x="9162131" y="5171572"/>
            <a:ext cx="8885937" cy="495245"/>
          </a:xfrm>
          <a:prstGeom prst="rect">
            <a:avLst/>
          </a:prstGeom>
          <a:noFill/>
          <a:ln/>
        </p:spPr>
        <p:txBody>
          <a:bodyPr wrap="square" lIns="25400" tIns="25400" rIns="25400" bIns="25400" rtlCol="0" anchor="t">
            <a:normAutofit/>
          </a:bodyPr>
          <a:lstStyle/>
          <a:p>
            <a:pPr algn="l" indent="0" marL="0">
              <a:lnSpc>
                <a:spcPct val="130799"/>
              </a:lnSpc>
              <a:buNone/>
            </a:pPr>
            <a:r>
              <a:rPr lang="en-US" sz="2400" dirty="0">
                <a:solidFill>
                  <a:srgbClr val="17302B">
                    <a:alpha val="75000"/>
                  </a:srgbClr>
                </a:solidFill>
                <a:latin typeface="Arial" pitchFamily="34" charset="0"/>
                <a:ea typeface="Arial" pitchFamily="34" charset="-122"/>
                <a:cs typeface="Arial" pitchFamily="34" charset="-120"/>
              </a:rPr>
              <a:t>Rehabilitated animals, ready for a home.</a:t>
            </a:r>
            <a:endParaRPr lang="en-US" sz="2400" dirty="0"/>
          </a:p>
        </p:txBody>
      </p:sp>
      <p:sp>
        <p:nvSpPr>
          <p:cNvPr id="6" name="Text 2"/>
          <p:cNvSpPr/>
          <p:nvPr/>
        </p:nvSpPr>
        <p:spPr>
          <a:xfrm>
            <a:off x="9162131" y="5876363"/>
            <a:ext cx="8885937" cy="495245"/>
          </a:xfrm>
          <a:prstGeom prst="rect">
            <a:avLst/>
          </a:prstGeom>
          <a:noFill/>
          <a:ln/>
        </p:spPr>
        <p:txBody>
          <a:bodyPr wrap="square" lIns="25400" tIns="25400" rIns="25400" bIns="25400" rtlCol="0" anchor="t">
            <a:normAutofit/>
          </a:bodyPr>
          <a:lstStyle/>
          <a:p>
            <a:pPr algn="l" indent="0" marL="0">
              <a:lnSpc>
                <a:spcPct val="130799"/>
              </a:lnSpc>
              <a:buNone/>
            </a:pPr>
            <a:r>
              <a:rPr lang="en-US" sz="2400" dirty="0">
                <a:solidFill>
                  <a:srgbClr val="17302B">
                    <a:alpha val="75000"/>
                  </a:srgbClr>
                </a:solidFill>
                <a:latin typeface="Arial" pitchFamily="34" charset="0"/>
                <a:ea typeface="Arial" pitchFamily="34" charset="-122"/>
                <a:cs typeface="Arial" pitchFamily="34" charset="-120"/>
              </a:rPr>
              <a:t>Impact stats and badges turn rescue into a habit.</a:t>
            </a:r>
            <a:endParaRPr lang="en-US" sz="2400" dirty="0"/>
          </a:p>
        </p:txBody>
      </p:sp>
      <p:sp>
        <p:nvSpPr>
          <p:cNvPr id="7" name="Text 3"/>
          <p:cNvSpPr/>
          <p:nvPr/>
        </p:nvSpPr>
        <p:spPr>
          <a:xfrm>
            <a:off x="9162131" y="6581155"/>
            <a:ext cx="8885937" cy="495245"/>
          </a:xfrm>
          <a:prstGeom prst="rect">
            <a:avLst/>
          </a:prstGeom>
          <a:noFill/>
          <a:ln/>
        </p:spPr>
        <p:txBody>
          <a:bodyPr wrap="square" lIns="25400" tIns="25400" rIns="25400" bIns="25400" rtlCol="0" anchor="t">
            <a:normAutofit/>
          </a:bodyPr>
          <a:lstStyle/>
          <a:p>
            <a:pPr algn="l" indent="0" marL="0">
              <a:lnSpc>
                <a:spcPct val="130799"/>
              </a:lnSpc>
              <a:buNone/>
            </a:pPr>
            <a:r>
              <a:rPr lang="en-US" sz="2400" dirty="0">
                <a:solidFill>
                  <a:srgbClr val="17302B">
                    <a:alpha val="75000"/>
                  </a:srgbClr>
                </a:solidFill>
                <a:latin typeface="Arial" pitchFamily="34" charset="0"/>
                <a:ea typeface="Arial" pitchFamily="34" charset="-122"/>
                <a:cs typeface="Arial" pitchFamily="34" charset="-120"/>
              </a:rPr>
              <a:t>The full experience works in English, Malayalam, or Hindi.</a:t>
            </a:r>
            <a:endParaRPr lang="en-US" sz="2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63832"/>
        </a:solidFill>
      </p:bgPr>
    </p:bg>
    <p:spTree>
      <p:nvGrpSpPr>
        <p:cNvPr id="1" name=""/>
        <p:cNvGrpSpPr/>
        <p:nvPr/>
      </p:nvGrpSpPr>
      <p:grpSpPr>
        <a:xfrm>
          <a:off x="0" y="0"/>
          <a:ext cx="0" cy="0"/>
          <a:chOff x="0" y="0"/>
          <a:chExt cx="0" cy="0"/>
        </a:xfrm>
      </p:grpSpPr>
      <p:sp>
        <p:nvSpPr>
          <p:cNvPr id="2" name="Text 0"/>
          <p:cNvSpPr/>
          <p:nvPr/>
        </p:nvSpPr>
        <p:spPr>
          <a:xfrm>
            <a:off x="1047732" y="952439"/>
            <a:ext cx="17811777" cy="742403"/>
          </a:xfrm>
          <a:prstGeom prst="rect">
            <a:avLst/>
          </a:prstGeom>
          <a:noFill/>
          <a:ln/>
        </p:spPr>
        <p:txBody>
          <a:bodyPr wrap="square" lIns="25400" tIns="25400" rIns="25400" bIns="25400" rtlCol="0" anchor="t">
            <a:normAutofit/>
          </a:bodyPr>
          <a:lstStyle/>
          <a:p>
            <a:pPr algn="l" indent="0" marL="0">
              <a:buNone/>
            </a:pPr>
            <a:r>
              <a:rPr lang="en-US" sz="4800" b="1" dirty="0">
                <a:solidFill>
                  <a:srgbClr val="FBF6EA"/>
                </a:solidFill>
                <a:latin typeface="Arial" pitchFamily="34" charset="0"/>
                <a:ea typeface="Arial" pitchFamily="34" charset="-122"/>
                <a:cs typeface="Arial" pitchFamily="34" charset="-120"/>
              </a:rPr>
              <a:t>What's Next</a:t>
            </a:r>
            <a:endParaRPr lang="en-US" sz="4800" dirty="0"/>
          </a:p>
        </p:txBody>
      </p:sp>
      <p:sp>
        <p:nvSpPr>
          <p:cNvPr id="3" name="Text 1"/>
          <p:cNvSpPr/>
          <p:nvPr/>
        </p:nvSpPr>
        <p:spPr>
          <a:xfrm>
            <a:off x="1047732" y="2266322"/>
            <a:ext cx="8612539" cy="523286"/>
          </a:xfrm>
          <a:prstGeom prst="rect">
            <a:avLst/>
          </a:prstGeom>
          <a:noFill/>
          <a:ln/>
        </p:spPr>
        <p:txBody>
          <a:bodyPr wrap="square" lIns="25400" tIns="25400" rIns="25400" bIns="25400" rtlCol="0" anchor="t">
            <a:normAutofit/>
          </a:bodyPr>
          <a:lstStyle/>
          <a:p>
            <a:pPr algn="l" indent="0" marL="0">
              <a:buNone/>
            </a:pPr>
            <a:r>
              <a:rPr lang="en-US" sz="3300" b="1" dirty="0">
                <a:solidFill>
                  <a:srgbClr val="FBF6EA"/>
                </a:solidFill>
                <a:latin typeface="Arial" pitchFamily="34" charset="0"/>
                <a:ea typeface="Arial" pitchFamily="34" charset="-122"/>
                <a:cs typeface="Arial" pitchFamily="34" charset="-120"/>
              </a:rPr>
              <a:t>Sterilization &amp; Vaccination Drives</a:t>
            </a:r>
            <a:endParaRPr lang="en-US" sz="3300" dirty="0"/>
          </a:p>
        </p:txBody>
      </p:sp>
      <p:sp>
        <p:nvSpPr>
          <p:cNvPr id="4" name="Text 2"/>
          <p:cNvSpPr/>
          <p:nvPr/>
        </p:nvSpPr>
        <p:spPr>
          <a:xfrm>
            <a:off x="1047732" y="2903863"/>
            <a:ext cx="8612539" cy="495245"/>
          </a:xfrm>
          <a:prstGeom prst="rect">
            <a:avLst/>
          </a:prstGeom>
          <a:noFill/>
          <a:ln/>
        </p:spPr>
        <p:txBody>
          <a:bodyPr wrap="square" lIns="25400" tIns="25400" rIns="25400" bIns="25400" rtlCol="0" anchor="t">
            <a:normAutofit/>
          </a:bodyPr>
          <a:lstStyle/>
          <a:p>
            <a:pPr algn="l" indent="0" marL="0">
              <a:lnSpc>
                <a:spcPct val="130799"/>
              </a:lnSpc>
              <a:buNone/>
            </a:pPr>
            <a:r>
              <a:rPr lang="en-US" sz="2400" dirty="0">
                <a:solidFill>
                  <a:srgbClr val="FBF6EA">
                    <a:alpha val="70000"/>
                  </a:srgbClr>
                </a:solidFill>
                <a:latin typeface="Arial" pitchFamily="34" charset="0"/>
                <a:ea typeface="Arial" pitchFamily="34" charset="-122"/>
                <a:cs typeface="Arial" pitchFamily="34" charset="-120"/>
              </a:rPr>
              <a:t>Scheduling for community feeders and shelters.</a:t>
            </a:r>
            <a:endParaRPr lang="en-US" sz="2400" dirty="0"/>
          </a:p>
        </p:txBody>
      </p:sp>
      <p:sp>
        <p:nvSpPr>
          <p:cNvPr id="5" name="Text 3"/>
          <p:cNvSpPr/>
          <p:nvPr/>
        </p:nvSpPr>
        <p:spPr>
          <a:xfrm>
            <a:off x="9410675" y="2266322"/>
            <a:ext cx="8612539" cy="523286"/>
          </a:xfrm>
          <a:prstGeom prst="rect">
            <a:avLst/>
          </a:prstGeom>
          <a:noFill/>
          <a:ln/>
        </p:spPr>
        <p:txBody>
          <a:bodyPr wrap="square" lIns="25400" tIns="25400" rIns="25400" bIns="25400" rtlCol="0" anchor="t">
            <a:normAutofit/>
          </a:bodyPr>
          <a:lstStyle/>
          <a:p>
            <a:pPr algn="l" indent="0" marL="0">
              <a:buNone/>
            </a:pPr>
            <a:r>
              <a:rPr lang="en-US" sz="3300" b="1" dirty="0">
                <a:solidFill>
                  <a:srgbClr val="FBF6EA"/>
                </a:solidFill>
                <a:latin typeface="Arial" pitchFamily="34" charset="0"/>
                <a:ea typeface="Arial" pitchFamily="34" charset="-122"/>
                <a:cs typeface="Arial" pitchFamily="34" charset="-120"/>
              </a:rPr>
              <a:t>Donations for NGOs</a:t>
            </a:r>
            <a:endParaRPr lang="en-US" sz="3300" dirty="0"/>
          </a:p>
        </p:txBody>
      </p:sp>
      <p:sp>
        <p:nvSpPr>
          <p:cNvPr id="6" name="Text 4"/>
          <p:cNvSpPr/>
          <p:nvPr/>
        </p:nvSpPr>
        <p:spPr>
          <a:xfrm>
            <a:off x="9410675" y="2903863"/>
            <a:ext cx="8612539" cy="495245"/>
          </a:xfrm>
          <a:prstGeom prst="rect">
            <a:avLst/>
          </a:prstGeom>
          <a:noFill/>
          <a:ln/>
        </p:spPr>
        <p:txBody>
          <a:bodyPr wrap="square" lIns="25400" tIns="25400" rIns="25400" bIns="25400" rtlCol="0" anchor="t">
            <a:normAutofit/>
          </a:bodyPr>
          <a:lstStyle/>
          <a:p>
            <a:pPr algn="l" indent="0" marL="0">
              <a:lnSpc>
                <a:spcPct val="130799"/>
              </a:lnSpc>
              <a:buNone/>
            </a:pPr>
            <a:r>
              <a:rPr lang="en-US" sz="2400" dirty="0">
                <a:solidFill>
                  <a:srgbClr val="FBF6EA">
                    <a:alpha val="70000"/>
                  </a:srgbClr>
                </a:solidFill>
                <a:latin typeface="Arial" pitchFamily="34" charset="0"/>
                <a:ea typeface="Arial" pitchFamily="34" charset="-122"/>
                <a:cs typeface="Arial" pitchFamily="34" charset="-120"/>
              </a:rPr>
              <a:t>Fund specific cases directly through the app.</a:t>
            </a:r>
            <a:endParaRPr lang="en-US" sz="2400" dirty="0"/>
          </a:p>
        </p:txBody>
      </p:sp>
      <p:sp>
        <p:nvSpPr>
          <p:cNvPr id="7" name="Text 5"/>
          <p:cNvSpPr/>
          <p:nvPr/>
        </p:nvSpPr>
        <p:spPr>
          <a:xfrm>
            <a:off x="1047732" y="6162323"/>
            <a:ext cx="8612539" cy="523286"/>
          </a:xfrm>
          <a:prstGeom prst="rect">
            <a:avLst/>
          </a:prstGeom>
          <a:noFill/>
          <a:ln/>
        </p:spPr>
        <p:txBody>
          <a:bodyPr wrap="square" lIns="25400" tIns="25400" rIns="25400" bIns="25400" rtlCol="0" anchor="t">
            <a:normAutofit/>
          </a:bodyPr>
          <a:lstStyle/>
          <a:p>
            <a:pPr algn="l" indent="0" marL="0">
              <a:buNone/>
            </a:pPr>
            <a:r>
              <a:rPr lang="en-US" sz="3300" b="1" dirty="0">
                <a:solidFill>
                  <a:srgbClr val="FBF6EA"/>
                </a:solidFill>
                <a:latin typeface="Arial" pitchFamily="34" charset="0"/>
                <a:ea typeface="Arial" pitchFamily="34" charset="-122"/>
                <a:cs typeface="Arial" pitchFamily="34" charset="-120"/>
              </a:rPr>
              <a:t>Proximity Push Alerts</a:t>
            </a:r>
            <a:endParaRPr lang="en-US" sz="3300" dirty="0"/>
          </a:p>
        </p:txBody>
      </p:sp>
      <p:sp>
        <p:nvSpPr>
          <p:cNvPr id="8" name="Text 6"/>
          <p:cNvSpPr/>
          <p:nvPr/>
        </p:nvSpPr>
        <p:spPr>
          <a:xfrm>
            <a:off x="1047732" y="6799864"/>
            <a:ext cx="8612539" cy="495245"/>
          </a:xfrm>
          <a:prstGeom prst="rect">
            <a:avLst/>
          </a:prstGeom>
          <a:noFill/>
          <a:ln/>
        </p:spPr>
        <p:txBody>
          <a:bodyPr wrap="square" lIns="25400" tIns="25400" rIns="25400" bIns="25400" rtlCol="0" anchor="t">
            <a:normAutofit/>
          </a:bodyPr>
          <a:lstStyle/>
          <a:p>
            <a:pPr algn="l" indent="0" marL="0">
              <a:lnSpc>
                <a:spcPct val="130799"/>
              </a:lnSpc>
              <a:buNone/>
            </a:pPr>
            <a:r>
              <a:rPr lang="en-US" sz="2400" dirty="0">
                <a:solidFill>
                  <a:srgbClr val="FBF6EA">
                    <a:alpha val="70000"/>
                  </a:srgbClr>
                </a:solidFill>
                <a:latin typeface="Arial" pitchFamily="34" charset="0"/>
                <a:ea typeface="Arial" pitchFamily="34" charset="-122"/>
                <a:cs typeface="Arial" pitchFamily="34" charset="-120"/>
              </a:rPr>
              <a:t>Get notified of new cases within your radius.</a:t>
            </a:r>
            <a:endParaRPr lang="en-US" sz="2400" dirty="0"/>
          </a:p>
        </p:txBody>
      </p:sp>
      <p:sp>
        <p:nvSpPr>
          <p:cNvPr id="9" name="Text 7"/>
          <p:cNvSpPr/>
          <p:nvPr/>
        </p:nvSpPr>
        <p:spPr>
          <a:xfrm>
            <a:off x="9410675" y="6162323"/>
            <a:ext cx="8612539" cy="523286"/>
          </a:xfrm>
          <a:prstGeom prst="rect">
            <a:avLst/>
          </a:prstGeom>
          <a:noFill/>
          <a:ln/>
        </p:spPr>
        <p:txBody>
          <a:bodyPr wrap="square" lIns="25400" tIns="25400" rIns="25400" bIns="25400" rtlCol="0" anchor="t">
            <a:normAutofit/>
          </a:bodyPr>
          <a:lstStyle/>
          <a:p>
            <a:pPr algn="l" indent="0" marL="0">
              <a:buNone/>
            </a:pPr>
            <a:r>
              <a:rPr lang="en-US" sz="3300" b="1" dirty="0">
                <a:solidFill>
                  <a:srgbClr val="FBF6EA"/>
                </a:solidFill>
                <a:latin typeface="Arial" pitchFamily="34" charset="0"/>
                <a:ea typeface="Arial" pitchFamily="34" charset="-122"/>
                <a:cs typeface="Arial" pitchFamily="34" charset="-120"/>
              </a:rPr>
              <a:t>AI Severity Scoring</a:t>
            </a:r>
            <a:endParaRPr lang="en-US" sz="3300" dirty="0"/>
          </a:p>
        </p:txBody>
      </p:sp>
      <p:sp>
        <p:nvSpPr>
          <p:cNvPr id="10" name="Text 8"/>
          <p:cNvSpPr/>
          <p:nvPr/>
        </p:nvSpPr>
        <p:spPr>
          <a:xfrm>
            <a:off x="9410675" y="6799864"/>
            <a:ext cx="8612539" cy="495245"/>
          </a:xfrm>
          <a:prstGeom prst="rect">
            <a:avLst/>
          </a:prstGeom>
          <a:noFill/>
          <a:ln/>
        </p:spPr>
        <p:txBody>
          <a:bodyPr wrap="square" lIns="25400" tIns="25400" rIns="25400" bIns="25400" rtlCol="0" anchor="t">
            <a:normAutofit/>
          </a:bodyPr>
          <a:lstStyle/>
          <a:p>
            <a:pPr algn="l" indent="0" marL="0">
              <a:lnSpc>
                <a:spcPct val="130799"/>
              </a:lnSpc>
              <a:buNone/>
            </a:pPr>
            <a:r>
              <a:rPr lang="en-US" sz="2400" dirty="0">
                <a:solidFill>
                  <a:srgbClr val="FBF6EA">
                    <a:alpha val="70000"/>
                  </a:srgbClr>
                </a:solidFill>
                <a:latin typeface="Arial" pitchFamily="34" charset="0"/>
                <a:ea typeface="Arial" pitchFamily="34" charset="-122"/>
                <a:cs typeface="Arial" pitchFamily="34" charset="-120"/>
              </a:rPr>
              <a:t>Auto-triage which cases need help first.</a:t>
            </a:r>
            <a:endParaRPr lang="en-US" sz="2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63832"/>
        </a:solidFill>
      </p:bgPr>
    </p:bg>
    <p:spTree>
      <p:nvGrpSpPr>
        <p:cNvPr id="1" name=""/>
        <p:cNvGrpSpPr/>
        <p:nvPr/>
      </p:nvGrpSpPr>
      <p:grpSpPr>
        <a:xfrm>
          <a:off x="0" y="0"/>
          <a:ext cx="0" cy="0"/>
          <a:chOff x="0" y="0"/>
          <a:chExt cx="0" cy="0"/>
        </a:xfrm>
      </p:grpSpPr>
      <p:sp>
        <p:nvSpPr>
          <p:cNvPr id="2" name="Shape 0"/>
          <p:cNvSpPr/>
          <p:nvPr/>
        </p:nvSpPr>
        <p:spPr>
          <a:xfrm>
            <a:off x="-959917" y="7638781"/>
            <a:ext cx="4072910" cy="4072910"/>
          </a:xfrm>
          <a:prstGeom prst="ellipse">
            <a:avLst/>
          </a:prstGeom>
          <a:gradFill rotWithShape="1">
            <a:gsLst>
              <a:gs pos="0">
                <a:srgbClr val="FBF6EA">
                  <a:alpha val="14000"/>
                </a:srgbClr>
              </a:gs>
              <a:gs pos="70000">
                <a:srgbClr val="FBF6EA">
                  <a:alpha val="0"/>
                </a:srgbClr>
              </a:gs>
            </a:gsLst>
            <a:path path="circle">
              <a:fillToRect l="50000" t="50000" r="50000" b="50000"/>
            </a:path>
          </a:gradFill>
          <a:ln/>
        </p:spPr>
      </p:sp>
      <p:sp>
        <p:nvSpPr>
          <p:cNvPr id="3" name="Text 1"/>
          <p:cNvSpPr/>
          <p:nvPr/>
        </p:nvSpPr>
        <p:spPr>
          <a:xfrm>
            <a:off x="7163179" y="3985261"/>
            <a:ext cx="3961630" cy="914566"/>
          </a:xfrm>
          <a:prstGeom prst="rect">
            <a:avLst/>
          </a:prstGeom>
          <a:noFill/>
          <a:ln/>
        </p:spPr>
        <p:txBody>
          <a:bodyPr wrap="square" lIns="25400" tIns="25400" rIns="25400" bIns="25400" rtlCol="0" anchor="t">
            <a:normAutofit/>
          </a:bodyPr>
          <a:lstStyle/>
          <a:p>
            <a:pPr algn="ctr" indent="0" marL="0">
              <a:buNone/>
            </a:pPr>
            <a:r>
              <a:rPr lang="en-US" sz="6000" b="1" dirty="0">
                <a:solidFill>
                  <a:srgbClr val="FBF6EA"/>
                </a:solidFill>
                <a:latin typeface="Arial" pitchFamily="34" charset="0"/>
                <a:ea typeface="Arial" pitchFamily="34" charset="-122"/>
                <a:cs typeface="Arial" pitchFamily="34" charset="-120"/>
              </a:rPr>
              <a:t>Thank You</a:t>
            </a:r>
            <a:endParaRPr lang="en-US" sz="6000" dirty="0"/>
          </a:p>
        </p:txBody>
      </p:sp>
      <p:sp>
        <p:nvSpPr>
          <p:cNvPr id="4" name="Text 2"/>
          <p:cNvSpPr/>
          <p:nvPr/>
        </p:nvSpPr>
        <p:spPr>
          <a:xfrm>
            <a:off x="3748050" y="5128368"/>
            <a:ext cx="10791806" cy="1211449"/>
          </a:xfrm>
          <a:prstGeom prst="rect">
            <a:avLst/>
          </a:prstGeom>
          <a:noFill/>
          <a:ln/>
        </p:spPr>
        <p:txBody>
          <a:bodyPr wrap="square" lIns="25400" tIns="25400" rIns="25400" bIns="25400" rtlCol="0" anchor="t">
            <a:normAutofit/>
          </a:bodyPr>
          <a:lstStyle/>
          <a:p>
            <a:pPr algn="ctr" indent="0" marL="0">
              <a:lnSpc>
                <a:spcPct val="120931"/>
              </a:lnSpc>
              <a:buNone/>
            </a:pPr>
            <a:r>
              <a:rPr lang="en-US" sz="3300" dirty="0">
                <a:solidFill>
                  <a:srgbClr val="FBF6EA">
                    <a:alpha val="80000"/>
                  </a:srgbClr>
                </a:solidFill>
                <a:latin typeface="Arial" pitchFamily="34" charset="0"/>
                <a:ea typeface="Arial" pitchFamily="34" charset="-122"/>
                <a:cs typeface="Arial" pitchFamily="34" charset="-120"/>
              </a:rPr>
              <a:t>See a stray in trouble → report in 30 seconds → nearest rescuer gets notified.</a:t>
            </a:r>
            <a:endParaRPr lang="en-US" sz="3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2026-09-04T20:09:58Z</dcterms:created>
  <dcterms:modified xsi:type="dcterms:W3CDTF">2026-09-04T20:09:58Z</dcterms:modified>
</cp:coreProperties>
</file>